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725" r:id="rId1"/>
  </p:sldMasterIdLst>
  <p:notesMasterIdLst>
    <p:notesMasterId r:id="rId33"/>
  </p:notesMasterIdLst>
  <p:sldIdLst>
    <p:sldId id="256" r:id="rId2"/>
    <p:sldId id="275" r:id="rId3"/>
    <p:sldId id="260" r:id="rId4"/>
    <p:sldId id="257" r:id="rId5"/>
    <p:sldId id="259" r:id="rId6"/>
    <p:sldId id="258" r:id="rId7"/>
    <p:sldId id="296" r:id="rId8"/>
    <p:sldId id="262" r:id="rId9"/>
    <p:sldId id="263" r:id="rId10"/>
    <p:sldId id="297" r:id="rId11"/>
    <p:sldId id="298" r:id="rId12"/>
    <p:sldId id="301" r:id="rId13"/>
    <p:sldId id="304" r:id="rId14"/>
    <p:sldId id="305" r:id="rId15"/>
    <p:sldId id="308" r:id="rId16"/>
    <p:sldId id="266" r:id="rId17"/>
    <p:sldId id="277" r:id="rId18"/>
    <p:sldId id="280" r:id="rId19"/>
    <p:sldId id="287" r:id="rId20"/>
    <p:sldId id="282" r:id="rId21"/>
    <p:sldId id="291" r:id="rId22"/>
    <p:sldId id="302" r:id="rId23"/>
    <p:sldId id="303" r:id="rId24"/>
    <p:sldId id="299" r:id="rId25"/>
    <p:sldId id="306" r:id="rId26"/>
    <p:sldId id="307" r:id="rId27"/>
    <p:sldId id="293" r:id="rId28"/>
    <p:sldId id="300" r:id="rId29"/>
    <p:sldId id="294" r:id="rId30"/>
    <p:sldId id="309" r:id="rId31"/>
    <p:sldId id="292"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17"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191" autoAdjust="0"/>
    <p:restoredTop sz="94660"/>
  </p:normalViewPr>
  <p:slideViewPr>
    <p:cSldViewPr snapToGrid="0" showGuides="1">
      <p:cViewPr varScale="1">
        <p:scale>
          <a:sx n="81" d="100"/>
          <a:sy n="81" d="100"/>
        </p:scale>
        <p:origin x="562" y="53"/>
      </p:cViewPr>
      <p:guideLst>
        <p:guide orient="horz" pos="2117"/>
        <p:guide pos="3840"/>
      </p:guideLst>
    </p:cSldViewPr>
  </p:slideViewPr>
  <p:notesTextViewPr>
    <p:cViewPr>
      <p:scale>
        <a:sx n="1" d="1"/>
        <a:sy n="1" d="1"/>
      </p:scale>
      <p:origin x="0" y="0"/>
    </p:cViewPr>
  </p:notesTextViewPr>
  <p:notesViewPr>
    <p:cSldViewPr snapToGrid="0">
      <p:cViewPr varScale="1">
        <p:scale>
          <a:sx n="67" d="100"/>
          <a:sy n="67" d="100"/>
        </p:scale>
        <p:origin x="3120" y="7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1" name="Shape 91"/>
          <p:cNvSpPr>
            <a:spLocks noGrp="1" noRot="1" noChangeAspect="1"/>
          </p:cNvSpPr>
          <p:nvPr>
            <p:ph type="sldImg"/>
          </p:nvPr>
        </p:nvSpPr>
        <p:spPr>
          <a:xfrm>
            <a:off x="1143000" y="685800"/>
            <a:ext cx="4572000" cy="3429000"/>
          </a:xfrm>
          <a:prstGeom prst="rect">
            <a:avLst/>
          </a:prstGeom>
        </p:spPr>
        <p:txBody>
          <a:bodyPr/>
          <a:lstStyle/>
          <a:p>
            <a:endParaRPr/>
          </a:p>
        </p:txBody>
      </p:sp>
      <p:sp>
        <p:nvSpPr>
          <p:cNvPr id="92" name="Shape 92"/>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Calibri" panose="020F0502020204030204"/>
      </a:defRPr>
    </a:lvl1pPr>
    <a:lvl2pPr indent="228600" latinLnBrk="0">
      <a:defRPr sz="1200">
        <a:latin typeface="+mj-lt"/>
        <a:ea typeface="+mj-ea"/>
        <a:cs typeface="+mj-cs"/>
        <a:sym typeface="Calibri" panose="020F0502020204030204"/>
      </a:defRPr>
    </a:lvl2pPr>
    <a:lvl3pPr indent="457200" latinLnBrk="0">
      <a:defRPr sz="1200">
        <a:latin typeface="+mj-lt"/>
        <a:ea typeface="+mj-ea"/>
        <a:cs typeface="+mj-cs"/>
        <a:sym typeface="Calibri" panose="020F0502020204030204"/>
      </a:defRPr>
    </a:lvl3pPr>
    <a:lvl4pPr indent="685800" latinLnBrk="0">
      <a:defRPr sz="1200">
        <a:latin typeface="+mj-lt"/>
        <a:ea typeface="+mj-ea"/>
        <a:cs typeface="+mj-cs"/>
        <a:sym typeface="Calibri" panose="020F0502020204030204"/>
      </a:defRPr>
    </a:lvl4pPr>
    <a:lvl5pPr indent="914400" latinLnBrk="0">
      <a:defRPr sz="1200">
        <a:latin typeface="+mj-lt"/>
        <a:ea typeface="+mj-ea"/>
        <a:cs typeface="+mj-cs"/>
        <a:sym typeface="Calibri" panose="020F0502020204030204"/>
      </a:defRPr>
    </a:lvl5pPr>
    <a:lvl6pPr indent="1143000" latinLnBrk="0">
      <a:defRPr sz="1200">
        <a:latin typeface="+mj-lt"/>
        <a:ea typeface="+mj-ea"/>
        <a:cs typeface="+mj-cs"/>
        <a:sym typeface="Calibri" panose="020F0502020204030204"/>
      </a:defRPr>
    </a:lvl6pPr>
    <a:lvl7pPr indent="1371600" latinLnBrk="0">
      <a:defRPr sz="1200">
        <a:latin typeface="+mj-lt"/>
        <a:ea typeface="+mj-ea"/>
        <a:cs typeface="+mj-cs"/>
        <a:sym typeface="Calibri" panose="020F0502020204030204"/>
      </a:defRPr>
    </a:lvl7pPr>
    <a:lvl8pPr indent="1600200" latinLnBrk="0">
      <a:defRPr sz="1200">
        <a:latin typeface="+mj-lt"/>
        <a:ea typeface="+mj-ea"/>
        <a:cs typeface="+mj-cs"/>
        <a:sym typeface="Calibri" panose="020F0502020204030204"/>
      </a:defRPr>
    </a:lvl8pPr>
    <a:lvl9pPr indent="1828800" latinLnBrk="0">
      <a:defRPr sz="1200">
        <a:latin typeface="+mj-lt"/>
        <a:ea typeface="+mj-ea"/>
        <a:cs typeface="+mj-cs"/>
        <a:sym typeface="Calibri" panose="020F050202020403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378569-6F33-7C6B-9E50-7EE2B6EFFDF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FCF699F-5356-63D4-EF38-736FEFF6B0B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1DE0EE0-D114-5D6A-3A87-1E80ED81BAFD}"/>
              </a:ext>
            </a:extLst>
          </p:cNvPr>
          <p:cNvSpPr>
            <a:spLocks noGrp="1"/>
          </p:cNvSpPr>
          <p:nvPr>
            <p:ph type="dt" sz="half" idx="10"/>
          </p:nvPr>
        </p:nvSpPr>
        <p:spPr/>
        <p:txBody>
          <a:bodyPr/>
          <a:lstStyle/>
          <a:p>
            <a:fld id="{4D0607BC-96D6-4F5B-A69F-42B9DF34B2A3}" type="datetimeFigureOut">
              <a:rPr lang="en-IN" smtClean="0"/>
              <a:t>22-12-2025</a:t>
            </a:fld>
            <a:endParaRPr lang="en-IN"/>
          </a:p>
        </p:txBody>
      </p:sp>
      <p:sp>
        <p:nvSpPr>
          <p:cNvPr id="5" name="Footer Placeholder 4">
            <a:extLst>
              <a:ext uri="{FF2B5EF4-FFF2-40B4-BE49-F238E27FC236}">
                <a16:creationId xmlns:a16="http://schemas.microsoft.com/office/drawing/2014/main" id="{AF28E9BF-83E6-DC08-0FE0-7141718ED1A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A716755-C06E-D8EB-F374-7CC47615B313}"/>
              </a:ext>
            </a:extLst>
          </p:cNvPr>
          <p:cNvSpPr>
            <a:spLocks noGrp="1"/>
          </p:cNvSpPr>
          <p:nvPr>
            <p:ph type="sldNum" sz="quarter" idx="12"/>
          </p:nvPr>
        </p:nvSpPr>
        <p:spPr/>
        <p:txBody>
          <a:bodyPr/>
          <a:lstStyle/>
          <a:p>
            <a:fld id="{86CB4B4D-7CA3-9044-876B-883B54F8677D}" type="slidenum">
              <a:rPr lang="en-IN" smtClean="0"/>
              <a:t>‹#›</a:t>
            </a:fld>
            <a:endParaRPr lang="en-IN"/>
          </a:p>
        </p:txBody>
      </p:sp>
    </p:spTree>
    <p:extLst>
      <p:ext uri="{BB962C8B-B14F-4D97-AF65-F5344CB8AC3E}">
        <p14:creationId xmlns:p14="http://schemas.microsoft.com/office/powerpoint/2010/main" val="8159490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D0E8E3-13F4-7188-018E-F2220E5F941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7597F52-0658-D5E7-1BF0-0918E0EA885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688DEF4-FEB6-E7A5-F9F1-BC0CE9266092}"/>
              </a:ext>
            </a:extLst>
          </p:cNvPr>
          <p:cNvSpPr>
            <a:spLocks noGrp="1"/>
          </p:cNvSpPr>
          <p:nvPr>
            <p:ph type="dt" sz="half" idx="10"/>
          </p:nvPr>
        </p:nvSpPr>
        <p:spPr/>
        <p:txBody>
          <a:bodyPr/>
          <a:lstStyle/>
          <a:p>
            <a:fld id="{4D0607BC-96D6-4F5B-A69F-42B9DF34B2A3}" type="datetimeFigureOut">
              <a:rPr lang="en-IN" smtClean="0"/>
              <a:t>22-12-2025</a:t>
            </a:fld>
            <a:endParaRPr lang="en-IN"/>
          </a:p>
        </p:txBody>
      </p:sp>
      <p:sp>
        <p:nvSpPr>
          <p:cNvPr id="5" name="Footer Placeholder 4">
            <a:extLst>
              <a:ext uri="{FF2B5EF4-FFF2-40B4-BE49-F238E27FC236}">
                <a16:creationId xmlns:a16="http://schemas.microsoft.com/office/drawing/2014/main" id="{FDE92226-3CE2-08FB-6E68-8ABF447F24E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0D784B6-96C9-D93F-CE96-146C292A14FD}"/>
              </a:ext>
            </a:extLst>
          </p:cNvPr>
          <p:cNvSpPr>
            <a:spLocks noGrp="1"/>
          </p:cNvSpPr>
          <p:nvPr>
            <p:ph type="sldNum" sz="quarter" idx="12"/>
          </p:nvPr>
        </p:nvSpPr>
        <p:spPr/>
        <p:txBody>
          <a:bodyPr/>
          <a:lstStyle/>
          <a:p>
            <a:fld id="{86CB4B4D-7CA3-9044-876B-883B54F8677D}" type="slidenum">
              <a:rPr lang="en-IN" smtClean="0"/>
              <a:t>‹#›</a:t>
            </a:fld>
            <a:endParaRPr lang="en-IN"/>
          </a:p>
        </p:txBody>
      </p:sp>
    </p:spTree>
    <p:extLst>
      <p:ext uri="{BB962C8B-B14F-4D97-AF65-F5344CB8AC3E}">
        <p14:creationId xmlns:p14="http://schemas.microsoft.com/office/powerpoint/2010/main" val="13587336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3AA4A-07E7-3C1D-8EF8-8F3DAB46E64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41E4EC68-A9B9-7329-295D-FAC7B4B2D11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7AECD02-17C7-CA5B-55F2-CB5D043839AA}"/>
              </a:ext>
            </a:extLst>
          </p:cNvPr>
          <p:cNvSpPr>
            <a:spLocks noGrp="1"/>
          </p:cNvSpPr>
          <p:nvPr>
            <p:ph type="dt" sz="half" idx="10"/>
          </p:nvPr>
        </p:nvSpPr>
        <p:spPr/>
        <p:txBody>
          <a:bodyPr/>
          <a:lstStyle/>
          <a:p>
            <a:fld id="{4D0607BC-96D6-4F5B-A69F-42B9DF34B2A3}" type="datetimeFigureOut">
              <a:rPr lang="en-IN" smtClean="0"/>
              <a:t>22-12-2025</a:t>
            </a:fld>
            <a:endParaRPr lang="en-IN"/>
          </a:p>
        </p:txBody>
      </p:sp>
      <p:sp>
        <p:nvSpPr>
          <p:cNvPr id="5" name="Footer Placeholder 4">
            <a:extLst>
              <a:ext uri="{FF2B5EF4-FFF2-40B4-BE49-F238E27FC236}">
                <a16:creationId xmlns:a16="http://schemas.microsoft.com/office/drawing/2014/main" id="{BE73605C-7D18-08C0-A66F-61C69095428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CBAA1F6-0537-8D06-EFA3-8087E0B9C465}"/>
              </a:ext>
            </a:extLst>
          </p:cNvPr>
          <p:cNvSpPr>
            <a:spLocks noGrp="1"/>
          </p:cNvSpPr>
          <p:nvPr>
            <p:ph type="sldNum" sz="quarter" idx="12"/>
          </p:nvPr>
        </p:nvSpPr>
        <p:spPr/>
        <p:txBody>
          <a:bodyPr/>
          <a:lstStyle/>
          <a:p>
            <a:fld id="{86CB4B4D-7CA3-9044-876B-883B54F8677D}" type="slidenum">
              <a:rPr lang="en-IN" smtClean="0"/>
              <a:t>‹#›</a:t>
            </a:fld>
            <a:endParaRPr lang="en-IN"/>
          </a:p>
        </p:txBody>
      </p:sp>
    </p:spTree>
    <p:extLst>
      <p:ext uri="{BB962C8B-B14F-4D97-AF65-F5344CB8AC3E}">
        <p14:creationId xmlns:p14="http://schemas.microsoft.com/office/powerpoint/2010/main" val="23182865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5C8CF0-2E3E-927A-D1E3-D8F686E4914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18AD1E0-5645-C413-0A64-B64A49F82DD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88BFF83-BB91-02E2-D2FA-B577846996C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6D632C8-4556-08B4-FD13-13A0A7908089}"/>
              </a:ext>
            </a:extLst>
          </p:cNvPr>
          <p:cNvSpPr>
            <a:spLocks noGrp="1"/>
          </p:cNvSpPr>
          <p:nvPr>
            <p:ph type="dt" sz="half" idx="10"/>
          </p:nvPr>
        </p:nvSpPr>
        <p:spPr/>
        <p:txBody>
          <a:bodyPr/>
          <a:lstStyle/>
          <a:p>
            <a:fld id="{4D0607BC-96D6-4F5B-A69F-42B9DF34B2A3}" type="datetimeFigureOut">
              <a:rPr lang="en-IN" smtClean="0"/>
              <a:t>22-12-2025</a:t>
            </a:fld>
            <a:endParaRPr lang="en-IN"/>
          </a:p>
        </p:txBody>
      </p:sp>
      <p:sp>
        <p:nvSpPr>
          <p:cNvPr id="6" name="Footer Placeholder 5">
            <a:extLst>
              <a:ext uri="{FF2B5EF4-FFF2-40B4-BE49-F238E27FC236}">
                <a16:creationId xmlns:a16="http://schemas.microsoft.com/office/drawing/2014/main" id="{648F8EDE-3A17-217B-68FC-0CFAE525E18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DEF304D-B6B4-6AAF-C676-1C823EA8E526}"/>
              </a:ext>
            </a:extLst>
          </p:cNvPr>
          <p:cNvSpPr>
            <a:spLocks noGrp="1"/>
          </p:cNvSpPr>
          <p:nvPr>
            <p:ph type="sldNum" sz="quarter" idx="12"/>
          </p:nvPr>
        </p:nvSpPr>
        <p:spPr/>
        <p:txBody>
          <a:bodyPr/>
          <a:lstStyle/>
          <a:p>
            <a:fld id="{86CB4B4D-7CA3-9044-876B-883B54F8677D}" type="slidenum">
              <a:rPr lang="en-IN" smtClean="0"/>
              <a:t>‹#›</a:t>
            </a:fld>
            <a:endParaRPr lang="en-IN"/>
          </a:p>
        </p:txBody>
      </p:sp>
    </p:spTree>
    <p:extLst>
      <p:ext uri="{BB962C8B-B14F-4D97-AF65-F5344CB8AC3E}">
        <p14:creationId xmlns:p14="http://schemas.microsoft.com/office/powerpoint/2010/main" val="306982646"/>
      </p:ext>
    </p:extLst>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C6FEDC-3E7B-0186-D4BF-DE9E3664681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05007D7-B80B-3018-AD04-D8D6A19425A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C31133B-6EF4-3C60-8D70-B8507FAD03C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BD1F8D4-4CA1-3A2F-F75B-BA725EE0633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F4A1BAA-733B-4FF4-ADEA-26D1F2127A0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10E318B-F296-D27D-6E1C-E0D7A03F9066}"/>
              </a:ext>
            </a:extLst>
          </p:cNvPr>
          <p:cNvSpPr>
            <a:spLocks noGrp="1"/>
          </p:cNvSpPr>
          <p:nvPr>
            <p:ph type="dt" sz="half" idx="10"/>
          </p:nvPr>
        </p:nvSpPr>
        <p:spPr/>
        <p:txBody>
          <a:bodyPr/>
          <a:lstStyle/>
          <a:p>
            <a:fld id="{4D0607BC-96D6-4F5B-A69F-42B9DF34B2A3}" type="datetimeFigureOut">
              <a:rPr lang="en-IN" smtClean="0"/>
              <a:t>22-12-2025</a:t>
            </a:fld>
            <a:endParaRPr lang="en-IN"/>
          </a:p>
        </p:txBody>
      </p:sp>
      <p:sp>
        <p:nvSpPr>
          <p:cNvPr id="8" name="Footer Placeholder 7">
            <a:extLst>
              <a:ext uri="{FF2B5EF4-FFF2-40B4-BE49-F238E27FC236}">
                <a16:creationId xmlns:a16="http://schemas.microsoft.com/office/drawing/2014/main" id="{1126DC73-C5E1-ECAC-A708-08517BC8EB3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C1C0A0F-AB42-C566-A9B5-C492A4D5B15B}"/>
              </a:ext>
            </a:extLst>
          </p:cNvPr>
          <p:cNvSpPr>
            <a:spLocks noGrp="1"/>
          </p:cNvSpPr>
          <p:nvPr>
            <p:ph type="sldNum" sz="quarter" idx="12"/>
          </p:nvPr>
        </p:nvSpPr>
        <p:spPr/>
        <p:txBody>
          <a:bodyPr/>
          <a:lstStyle/>
          <a:p>
            <a:fld id="{86CB4B4D-7CA3-9044-876B-883B54F8677D}" type="slidenum">
              <a:rPr lang="en-IN" smtClean="0"/>
              <a:t>‹#›</a:t>
            </a:fld>
            <a:endParaRPr lang="en-IN"/>
          </a:p>
        </p:txBody>
      </p:sp>
    </p:spTree>
    <p:extLst>
      <p:ext uri="{BB962C8B-B14F-4D97-AF65-F5344CB8AC3E}">
        <p14:creationId xmlns:p14="http://schemas.microsoft.com/office/powerpoint/2010/main" val="1145233145"/>
      </p:ext>
    </p:extLst>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065F89-5284-AFE6-DDFB-A85ACE9DEED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BAB2051-E5F4-A54D-C971-7EA4DC912F71}"/>
              </a:ext>
            </a:extLst>
          </p:cNvPr>
          <p:cNvSpPr>
            <a:spLocks noGrp="1"/>
          </p:cNvSpPr>
          <p:nvPr>
            <p:ph type="dt" sz="half" idx="10"/>
          </p:nvPr>
        </p:nvSpPr>
        <p:spPr/>
        <p:txBody>
          <a:bodyPr/>
          <a:lstStyle/>
          <a:p>
            <a:fld id="{4D0607BC-96D6-4F5B-A69F-42B9DF34B2A3}" type="datetimeFigureOut">
              <a:rPr lang="en-IN" smtClean="0"/>
              <a:t>22-12-2025</a:t>
            </a:fld>
            <a:endParaRPr lang="en-IN"/>
          </a:p>
        </p:txBody>
      </p:sp>
      <p:sp>
        <p:nvSpPr>
          <p:cNvPr id="4" name="Footer Placeholder 3">
            <a:extLst>
              <a:ext uri="{FF2B5EF4-FFF2-40B4-BE49-F238E27FC236}">
                <a16:creationId xmlns:a16="http://schemas.microsoft.com/office/drawing/2014/main" id="{8AA46660-1608-5EE9-F007-8B0265C3E6A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E1FF3A7-9520-A74F-2F84-A89A0F270662}"/>
              </a:ext>
            </a:extLst>
          </p:cNvPr>
          <p:cNvSpPr>
            <a:spLocks noGrp="1"/>
          </p:cNvSpPr>
          <p:nvPr>
            <p:ph type="sldNum" sz="quarter" idx="12"/>
          </p:nvPr>
        </p:nvSpPr>
        <p:spPr/>
        <p:txBody>
          <a:bodyPr/>
          <a:lstStyle/>
          <a:p>
            <a:fld id="{86CB4B4D-7CA3-9044-876B-883B54F8677D}" type="slidenum">
              <a:rPr lang="en-IN" smtClean="0"/>
              <a:t>‹#›</a:t>
            </a:fld>
            <a:endParaRPr lang="en-IN"/>
          </a:p>
        </p:txBody>
      </p:sp>
    </p:spTree>
    <p:extLst>
      <p:ext uri="{BB962C8B-B14F-4D97-AF65-F5344CB8AC3E}">
        <p14:creationId xmlns:p14="http://schemas.microsoft.com/office/powerpoint/2010/main" val="1048758841"/>
      </p:ext>
    </p:extLst>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9B1F40E-C0CC-DF91-132E-FC53D714C3FA}"/>
              </a:ext>
            </a:extLst>
          </p:cNvPr>
          <p:cNvSpPr>
            <a:spLocks noGrp="1"/>
          </p:cNvSpPr>
          <p:nvPr>
            <p:ph type="dt" sz="half" idx="10"/>
          </p:nvPr>
        </p:nvSpPr>
        <p:spPr/>
        <p:txBody>
          <a:bodyPr/>
          <a:lstStyle/>
          <a:p>
            <a:fld id="{4D0607BC-96D6-4F5B-A69F-42B9DF34B2A3}" type="datetimeFigureOut">
              <a:rPr lang="en-IN" smtClean="0"/>
              <a:t>22-12-2025</a:t>
            </a:fld>
            <a:endParaRPr lang="en-IN"/>
          </a:p>
        </p:txBody>
      </p:sp>
      <p:sp>
        <p:nvSpPr>
          <p:cNvPr id="3" name="Footer Placeholder 2">
            <a:extLst>
              <a:ext uri="{FF2B5EF4-FFF2-40B4-BE49-F238E27FC236}">
                <a16:creationId xmlns:a16="http://schemas.microsoft.com/office/drawing/2014/main" id="{2F8876D0-87F8-F26D-8B14-F1FD839735E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8BDABDB-EB3F-2AFF-E394-8728AC395DAF}"/>
              </a:ext>
            </a:extLst>
          </p:cNvPr>
          <p:cNvSpPr>
            <a:spLocks noGrp="1"/>
          </p:cNvSpPr>
          <p:nvPr>
            <p:ph type="sldNum" sz="quarter" idx="12"/>
          </p:nvPr>
        </p:nvSpPr>
        <p:spPr/>
        <p:txBody>
          <a:bodyPr/>
          <a:lstStyle/>
          <a:p>
            <a:fld id="{86CB4B4D-7CA3-9044-876B-883B54F8677D}" type="slidenum">
              <a:rPr lang="en-IN" smtClean="0"/>
              <a:t>‹#›</a:t>
            </a:fld>
            <a:endParaRPr lang="en-IN"/>
          </a:p>
        </p:txBody>
      </p:sp>
    </p:spTree>
    <p:extLst>
      <p:ext uri="{BB962C8B-B14F-4D97-AF65-F5344CB8AC3E}">
        <p14:creationId xmlns:p14="http://schemas.microsoft.com/office/powerpoint/2010/main" val="3511305469"/>
      </p:ext>
    </p:extLst>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A06F41-C122-1ACF-D37A-21AF124A299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7BA8A49-ABE7-0958-FBB6-BE69B87B8E3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1532E80-B6D5-740A-BA3D-836262A30B7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44FBEA1-0F1E-5E9C-D785-479ADF729877}"/>
              </a:ext>
            </a:extLst>
          </p:cNvPr>
          <p:cNvSpPr>
            <a:spLocks noGrp="1"/>
          </p:cNvSpPr>
          <p:nvPr>
            <p:ph type="dt" sz="half" idx="10"/>
          </p:nvPr>
        </p:nvSpPr>
        <p:spPr/>
        <p:txBody>
          <a:bodyPr/>
          <a:lstStyle/>
          <a:p>
            <a:fld id="{4D0607BC-96D6-4F5B-A69F-42B9DF34B2A3}" type="datetimeFigureOut">
              <a:rPr lang="en-IN" smtClean="0"/>
              <a:t>22-12-2025</a:t>
            </a:fld>
            <a:endParaRPr lang="en-IN"/>
          </a:p>
        </p:txBody>
      </p:sp>
      <p:sp>
        <p:nvSpPr>
          <p:cNvPr id="6" name="Footer Placeholder 5">
            <a:extLst>
              <a:ext uri="{FF2B5EF4-FFF2-40B4-BE49-F238E27FC236}">
                <a16:creationId xmlns:a16="http://schemas.microsoft.com/office/drawing/2014/main" id="{554A7ADB-095D-2EF3-DBD4-2009AD49321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A3084B1-664A-3EF5-9A7C-8170E8659CE0}"/>
              </a:ext>
            </a:extLst>
          </p:cNvPr>
          <p:cNvSpPr>
            <a:spLocks noGrp="1"/>
          </p:cNvSpPr>
          <p:nvPr>
            <p:ph type="sldNum" sz="quarter" idx="12"/>
          </p:nvPr>
        </p:nvSpPr>
        <p:spPr/>
        <p:txBody>
          <a:bodyPr/>
          <a:lstStyle/>
          <a:p>
            <a:fld id="{86CB4B4D-7CA3-9044-876B-883B54F8677D}" type="slidenum">
              <a:rPr lang="en-IN" smtClean="0"/>
              <a:t>‹#›</a:t>
            </a:fld>
            <a:endParaRPr lang="en-IN"/>
          </a:p>
        </p:txBody>
      </p:sp>
    </p:spTree>
    <p:extLst>
      <p:ext uri="{BB962C8B-B14F-4D97-AF65-F5344CB8AC3E}">
        <p14:creationId xmlns:p14="http://schemas.microsoft.com/office/powerpoint/2010/main" val="597391518"/>
      </p:ext>
    </p:extLst>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DC377-5E48-73A9-26A3-21B140B2869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C95AE95-3B68-0033-5D70-0ED8089141E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58EC0FA-EB56-D685-2BC8-01156D7BE5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5C73295-D44E-B8E1-E055-B6B398ADDD01}"/>
              </a:ext>
            </a:extLst>
          </p:cNvPr>
          <p:cNvSpPr>
            <a:spLocks noGrp="1"/>
          </p:cNvSpPr>
          <p:nvPr>
            <p:ph type="dt" sz="half" idx="10"/>
          </p:nvPr>
        </p:nvSpPr>
        <p:spPr/>
        <p:txBody>
          <a:bodyPr/>
          <a:lstStyle/>
          <a:p>
            <a:fld id="{4D0607BC-96D6-4F5B-A69F-42B9DF34B2A3}" type="datetimeFigureOut">
              <a:rPr lang="en-IN" smtClean="0"/>
              <a:t>22-12-2025</a:t>
            </a:fld>
            <a:endParaRPr lang="en-IN"/>
          </a:p>
        </p:txBody>
      </p:sp>
      <p:sp>
        <p:nvSpPr>
          <p:cNvPr id="6" name="Footer Placeholder 5">
            <a:extLst>
              <a:ext uri="{FF2B5EF4-FFF2-40B4-BE49-F238E27FC236}">
                <a16:creationId xmlns:a16="http://schemas.microsoft.com/office/drawing/2014/main" id="{BC02C89A-4BC1-7F2E-8E5B-39CD9963E6B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CAA9C64-34F9-DA3A-3727-B4122D8F4A57}"/>
              </a:ext>
            </a:extLst>
          </p:cNvPr>
          <p:cNvSpPr>
            <a:spLocks noGrp="1"/>
          </p:cNvSpPr>
          <p:nvPr>
            <p:ph type="sldNum" sz="quarter" idx="12"/>
          </p:nvPr>
        </p:nvSpPr>
        <p:spPr/>
        <p:txBody>
          <a:bodyPr/>
          <a:lstStyle/>
          <a:p>
            <a:fld id="{86CB4B4D-7CA3-9044-876B-883B54F8677D}" type="slidenum">
              <a:rPr lang="en-IN" smtClean="0"/>
              <a:t>‹#›</a:t>
            </a:fld>
            <a:endParaRPr lang="en-IN"/>
          </a:p>
        </p:txBody>
      </p:sp>
    </p:spTree>
    <p:extLst>
      <p:ext uri="{BB962C8B-B14F-4D97-AF65-F5344CB8AC3E}">
        <p14:creationId xmlns:p14="http://schemas.microsoft.com/office/powerpoint/2010/main" val="1166882191"/>
      </p:ext>
    </p:extLst>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4878A9-10DF-3B81-CB93-5ADCF6D4AE9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4658268-3E34-B8EB-5C07-4561B097606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4153A37-5506-F3BA-D155-DFF3732AA432}"/>
              </a:ext>
            </a:extLst>
          </p:cNvPr>
          <p:cNvSpPr>
            <a:spLocks noGrp="1"/>
          </p:cNvSpPr>
          <p:nvPr>
            <p:ph type="dt" sz="half" idx="10"/>
          </p:nvPr>
        </p:nvSpPr>
        <p:spPr/>
        <p:txBody>
          <a:bodyPr/>
          <a:lstStyle/>
          <a:p>
            <a:fld id="{4D0607BC-96D6-4F5B-A69F-42B9DF34B2A3}" type="datetimeFigureOut">
              <a:rPr lang="en-IN" smtClean="0"/>
              <a:t>22-12-2025</a:t>
            </a:fld>
            <a:endParaRPr lang="en-IN"/>
          </a:p>
        </p:txBody>
      </p:sp>
      <p:sp>
        <p:nvSpPr>
          <p:cNvPr id="5" name="Footer Placeholder 4">
            <a:extLst>
              <a:ext uri="{FF2B5EF4-FFF2-40B4-BE49-F238E27FC236}">
                <a16:creationId xmlns:a16="http://schemas.microsoft.com/office/drawing/2014/main" id="{97B305D1-4D69-D70A-4709-D397F49802A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6D47001-89E6-1783-E466-32EEBBC53226}"/>
              </a:ext>
            </a:extLst>
          </p:cNvPr>
          <p:cNvSpPr>
            <a:spLocks noGrp="1"/>
          </p:cNvSpPr>
          <p:nvPr>
            <p:ph type="sldNum" sz="quarter" idx="12"/>
          </p:nvPr>
        </p:nvSpPr>
        <p:spPr/>
        <p:txBody>
          <a:bodyPr/>
          <a:lstStyle/>
          <a:p>
            <a:fld id="{86CB4B4D-7CA3-9044-876B-883B54F8677D}" type="slidenum">
              <a:rPr lang="en-IN" smtClean="0"/>
              <a:t>‹#›</a:t>
            </a:fld>
            <a:endParaRPr lang="en-IN"/>
          </a:p>
        </p:txBody>
      </p:sp>
    </p:spTree>
    <p:extLst>
      <p:ext uri="{BB962C8B-B14F-4D97-AF65-F5344CB8AC3E}">
        <p14:creationId xmlns:p14="http://schemas.microsoft.com/office/powerpoint/2010/main" val="3647131621"/>
      </p:ext>
    </p:extLst>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E4DBE66-3C21-CE04-AD20-4C8BF5BBB47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EABB056-BE7A-5E39-315D-1B40A962187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2B1B7D4-B747-BC48-F919-316EE6135B23}"/>
              </a:ext>
            </a:extLst>
          </p:cNvPr>
          <p:cNvSpPr>
            <a:spLocks noGrp="1"/>
          </p:cNvSpPr>
          <p:nvPr>
            <p:ph type="dt" sz="half" idx="10"/>
          </p:nvPr>
        </p:nvSpPr>
        <p:spPr/>
        <p:txBody>
          <a:bodyPr/>
          <a:lstStyle/>
          <a:p>
            <a:fld id="{4D0607BC-96D6-4F5B-A69F-42B9DF34B2A3}" type="datetimeFigureOut">
              <a:rPr lang="en-IN" smtClean="0"/>
              <a:t>22-12-2025</a:t>
            </a:fld>
            <a:endParaRPr lang="en-IN"/>
          </a:p>
        </p:txBody>
      </p:sp>
      <p:sp>
        <p:nvSpPr>
          <p:cNvPr id="5" name="Footer Placeholder 4">
            <a:extLst>
              <a:ext uri="{FF2B5EF4-FFF2-40B4-BE49-F238E27FC236}">
                <a16:creationId xmlns:a16="http://schemas.microsoft.com/office/drawing/2014/main" id="{0057F7DB-1BAC-6270-54AC-77983F51207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91BED2B-C453-7AFC-EBEC-C74D5B27AFAE}"/>
              </a:ext>
            </a:extLst>
          </p:cNvPr>
          <p:cNvSpPr>
            <a:spLocks noGrp="1"/>
          </p:cNvSpPr>
          <p:nvPr>
            <p:ph type="sldNum" sz="quarter" idx="12"/>
          </p:nvPr>
        </p:nvSpPr>
        <p:spPr/>
        <p:txBody>
          <a:bodyPr/>
          <a:lstStyle/>
          <a:p>
            <a:fld id="{86CB4B4D-7CA3-9044-876B-883B54F8677D}" type="slidenum">
              <a:rPr lang="en-IN" smtClean="0"/>
              <a:t>‹#›</a:t>
            </a:fld>
            <a:endParaRPr lang="en-IN"/>
          </a:p>
        </p:txBody>
      </p:sp>
    </p:spTree>
    <p:extLst>
      <p:ext uri="{BB962C8B-B14F-4D97-AF65-F5344CB8AC3E}">
        <p14:creationId xmlns:p14="http://schemas.microsoft.com/office/powerpoint/2010/main" val="2596504331"/>
      </p:ext>
    </p:extLst>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E151D05-4F35-155A-B2C0-0D015D95B43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6E58520-ED97-0DD4-ECC4-7E43FC3E850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FFB96BC-BDC1-CFD5-7183-5F35F8DBDDC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D0607BC-96D6-4F5B-A69F-42B9DF34B2A3}" type="datetimeFigureOut">
              <a:rPr lang="en-IN" smtClean="0"/>
              <a:t>22-12-2025</a:t>
            </a:fld>
            <a:endParaRPr lang="en-IN"/>
          </a:p>
        </p:txBody>
      </p:sp>
      <p:sp>
        <p:nvSpPr>
          <p:cNvPr id="5" name="Footer Placeholder 4">
            <a:extLst>
              <a:ext uri="{FF2B5EF4-FFF2-40B4-BE49-F238E27FC236}">
                <a16:creationId xmlns:a16="http://schemas.microsoft.com/office/drawing/2014/main" id="{E34DF07D-0D6F-FE88-F356-529713CDE0A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080A198C-06C2-C437-4452-4460486C066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6CB4B4D-7CA3-9044-876B-883B54F8677D}" type="slidenum">
              <a:rPr lang="en-IN" smtClean="0"/>
              <a:t>‹#›</a:t>
            </a:fld>
            <a:endParaRPr lang="en-IN"/>
          </a:p>
        </p:txBody>
      </p:sp>
    </p:spTree>
    <p:extLst>
      <p:ext uri="{BB962C8B-B14F-4D97-AF65-F5344CB8AC3E}">
        <p14:creationId xmlns:p14="http://schemas.microsoft.com/office/powerpoint/2010/main" val="157546291"/>
      </p:ext>
    </p:extLst>
  </p:cSld>
  <p:clrMap bg1="lt1" tx1="dk1" bg2="lt2" tx2="dk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hyperlink" Target="https://en.wikipedia.org/wiki/Indian_Patent_Office"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Title 1"/>
          <p:cNvSpPr txBox="1">
            <a:spLocks noGrp="1"/>
          </p:cNvSpPr>
          <p:nvPr>
            <p:ph type="ctrTitle"/>
          </p:nvPr>
        </p:nvSpPr>
        <p:spPr>
          <a:xfrm>
            <a:off x="1343319" y="1499058"/>
            <a:ext cx="9144000" cy="1483515"/>
          </a:xfrm>
          <a:prstGeom prst="rect">
            <a:avLst/>
          </a:prstGeom>
        </p:spPr>
        <p:txBody>
          <a:bodyPr>
            <a:normAutofit/>
          </a:bodyPr>
          <a:lstStyle>
            <a:lvl1pPr defTabSz="877570">
              <a:defRPr sz="5185">
                <a:latin typeface="Times New Roman" panose="02020603050405020304"/>
                <a:ea typeface="Times New Roman" panose="02020603050405020304"/>
                <a:cs typeface="Times New Roman" panose="02020603050405020304"/>
                <a:sym typeface="Times New Roman" panose="02020603050405020304"/>
              </a:defRPr>
            </a:lvl1pPr>
          </a:lstStyle>
          <a:p>
            <a:r>
              <a:rPr lang="en-US" sz="3600" dirty="0"/>
              <a:t>Non-Invasive Blood Group Detection Using Fingerprints</a:t>
            </a:r>
            <a:endParaRPr sz="3600" dirty="0"/>
          </a:p>
        </p:txBody>
      </p:sp>
      <p:sp>
        <p:nvSpPr>
          <p:cNvPr id="7" name="Slide Number Placeholder 6"/>
          <p:cNvSpPr>
            <a:spLocks noGrp="1"/>
          </p:cNvSpPr>
          <p:nvPr>
            <p:ph type="sldNum" sz="quarter" idx="12"/>
          </p:nvPr>
        </p:nvSpPr>
        <p:spPr/>
        <p:txBody>
          <a:bodyPr/>
          <a:lstStyle/>
          <a:p>
            <a:fld id="{86CB4B4D-7CA3-9044-876B-883B54F8677D}" type="slidenum">
              <a:rPr lang="en-IN" smtClean="0"/>
              <a:t>1</a:t>
            </a:fld>
            <a:endParaRPr lang="en-IN"/>
          </a:p>
        </p:txBody>
      </p:sp>
      <p:sp>
        <p:nvSpPr>
          <p:cNvPr id="96" name="Title 1"/>
          <p:cNvSpPr txBox="1"/>
          <p:nvPr/>
        </p:nvSpPr>
        <p:spPr>
          <a:xfrm>
            <a:off x="1569719" y="279886"/>
            <a:ext cx="9052561" cy="1056012"/>
          </a:xfrm>
          <a:prstGeom prst="rect">
            <a:avLst/>
          </a:prstGeom>
          <a:ln w="12700">
            <a:miter lim="400000"/>
          </a:ln>
        </p:spPr>
        <p:txBody>
          <a:bodyPr lIns="45719" rIns="45719" anchor="b">
            <a:normAutofit/>
          </a:bodyPr>
          <a:lstStyle/>
          <a:p>
            <a:pPr algn="ctr">
              <a:lnSpc>
                <a:spcPct val="90000"/>
              </a:lnSpc>
              <a:defRPr sz="2200" b="1">
                <a:latin typeface="Times New Roman" panose="02020603050405020304"/>
                <a:ea typeface="Times New Roman" panose="02020603050405020304"/>
                <a:cs typeface="Times New Roman" panose="02020603050405020304"/>
                <a:sym typeface="Times New Roman" panose="02020603050405020304"/>
              </a:defRPr>
            </a:pPr>
            <a:r>
              <a:rPr dirty="0"/>
              <a:t>BALLARI INSTITUTE OF TECHNOLOGY AND MANAGEMENT</a:t>
            </a:r>
            <a:br>
              <a:rPr dirty="0"/>
            </a:br>
            <a:endParaRPr dirty="0"/>
          </a:p>
          <a:p>
            <a:pPr algn="ctr">
              <a:lnSpc>
                <a:spcPct val="90000"/>
              </a:lnSpc>
              <a:defRPr sz="2200" b="1">
                <a:latin typeface="Times New Roman" panose="02020603050405020304"/>
                <a:ea typeface="Times New Roman" panose="02020603050405020304"/>
                <a:cs typeface="Times New Roman" panose="02020603050405020304"/>
                <a:sym typeface="Times New Roman" panose="02020603050405020304"/>
              </a:defRPr>
            </a:pPr>
            <a:r>
              <a:rPr dirty="0"/>
              <a:t>DEPARTMENT OF COMPUTER SCIENCE AND ENGINEERING</a:t>
            </a:r>
          </a:p>
        </p:txBody>
      </p:sp>
      <p:sp>
        <p:nvSpPr>
          <p:cNvPr id="2" name="Subtitle 2"/>
          <p:cNvSpPr txBox="1"/>
          <p:nvPr/>
        </p:nvSpPr>
        <p:spPr>
          <a:xfrm>
            <a:off x="1929138" y="2982573"/>
            <a:ext cx="9144001" cy="3054810"/>
          </a:xfrm>
          <a:prstGeom prst="rect">
            <a:avLst/>
          </a:prstGeom>
          <a:ln w="12700">
            <a:miter lim="400000"/>
          </a:ln>
        </p:spPr>
        <p:txBody>
          <a:bodyPr lIns="45719" rIns="45719">
            <a:normAutofit/>
          </a:bodyPr>
          <a:lstStyle>
            <a:lvl1pPr marL="0" marR="0" indent="0" algn="ctr" defTabSz="914400" rtl="0" latinLnBrk="0">
              <a:lnSpc>
                <a:spcPct val="90000"/>
              </a:lnSpc>
              <a:spcBef>
                <a:spcPts val="1000"/>
              </a:spcBef>
              <a:spcAft>
                <a:spcPts val="0"/>
              </a:spcAft>
              <a:buClrTx/>
              <a:buSzTx/>
              <a:buFontTx/>
              <a:buNone/>
              <a:defRPr sz="2400" b="0" i="0" u="none" strike="noStrike" cap="none" spc="0" baseline="0">
                <a:solidFill>
                  <a:srgbClr val="000000"/>
                </a:solidFill>
                <a:uFillTx/>
                <a:latin typeface="+mj-lt"/>
                <a:ea typeface="+mj-ea"/>
                <a:cs typeface="+mj-cs"/>
                <a:sym typeface="Calibri" panose="020F0502020204030204"/>
              </a:defRPr>
            </a:lvl1pPr>
            <a:lvl2pPr marL="0" marR="0" indent="457200" algn="ctr" defTabSz="914400" rtl="0" latinLnBrk="0">
              <a:lnSpc>
                <a:spcPct val="90000"/>
              </a:lnSpc>
              <a:spcBef>
                <a:spcPts val="1000"/>
              </a:spcBef>
              <a:spcAft>
                <a:spcPts val="0"/>
              </a:spcAft>
              <a:buClrTx/>
              <a:buSzTx/>
              <a:buFontTx/>
              <a:buNone/>
              <a:defRPr sz="2400" b="0" i="0" u="none" strike="noStrike" cap="none" spc="0" baseline="0">
                <a:solidFill>
                  <a:srgbClr val="000000"/>
                </a:solidFill>
                <a:uFillTx/>
                <a:latin typeface="+mj-lt"/>
                <a:ea typeface="+mj-ea"/>
                <a:cs typeface="+mj-cs"/>
                <a:sym typeface="Calibri" panose="020F0502020204030204"/>
              </a:defRPr>
            </a:lvl2pPr>
            <a:lvl3pPr marL="0" marR="0" indent="914400" algn="ctr" defTabSz="914400" rtl="0" latinLnBrk="0">
              <a:lnSpc>
                <a:spcPct val="90000"/>
              </a:lnSpc>
              <a:spcBef>
                <a:spcPts val="1000"/>
              </a:spcBef>
              <a:spcAft>
                <a:spcPts val="0"/>
              </a:spcAft>
              <a:buClrTx/>
              <a:buSzTx/>
              <a:buFontTx/>
              <a:buNone/>
              <a:defRPr sz="2400" b="0" i="0" u="none" strike="noStrike" cap="none" spc="0" baseline="0">
                <a:solidFill>
                  <a:srgbClr val="000000"/>
                </a:solidFill>
                <a:uFillTx/>
                <a:latin typeface="+mj-lt"/>
                <a:ea typeface="+mj-ea"/>
                <a:cs typeface="+mj-cs"/>
                <a:sym typeface="Calibri" panose="020F0502020204030204"/>
              </a:defRPr>
            </a:lvl3pPr>
            <a:lvl4pPr marL="0" marR="0" indent="1371600" algn="ctr" defTabSz="914400" rtl="0" latinLnBrk="0">
              <a:lnSpc>
                <a:spcPct val="90000"/>
              </a:lnSpc>
              <a:spcBef>
                <a:spcPts val="1000"/>
              </a:spcBef>
              <a:spcAft>
                <a:spcPts val="0"/>
              </a:spcAft>
              <a:buClrTx/>
              <a:buSzTx/>
              <a:buFontTx/>
              <a:buNone/>
              <a:defRPr sz="2400" b="0" i="0" u="none" strike="noStrike" cap="none" spc="0" baseline="0">
                <a:solidFill>
                  <a:srgbClr val="000000"/>
                </a:solidFill>
                <a:uFillTx/>
                <a:latin typeface="+mj-lt"/>
                <a:ea typeface="+mj-ea"/>
                <a:cs typeface="+mj-cs"/>
                <a:sym typeface="Calibri" panose="020F0502020204030204"/>
              </a:defRPr>
            </a:lvl4pPr>
            <a:lvl5pPr marL="0" marR="0" indent="1828800" algn="ctr" defTabSz="914400" rtl="0" latinLnBrk="0">
              <a:lnSpc>
                <a:spcPct val="90000"/>
              </a:lnSpc>
              <a:spcBef>
                <a:spcPts val="1000"/>
              </a:spcBef>
              <a:spcAft>
                <a:spcPts val="0"/>
              </a:spcAft>
              <a:buClrTx/>
              <a:buSzTx/>
              <a:buFontTx/>
              <a:buNone/>
              <a:defRPr sz="2400" b="0" i="0" u="none" strike="noStrike" cap="none" spc="0" baseline="0">
                <a:solidFill>
                  <a:srgbClr val="000000"/>
                </a:solidFill>
                <a:uFillTx/>
                <a:latin typeface="+mj-lt"/>
                <a:ea typeface="+mj-ea"/>
                <a:cs typeface="+mj-cs"/>
                <a:sym typeface="Calibri" panose="020F0502020204030204"/>
              </a:defRPr>
            </a:lvl5pPr>
            <a:lvl6pPr marL="2641600" marR="0" indent="-355600" algn="l" defTabSz="914400" rtl="0" latinLnBrk="0">
              <a:lnSpc>
                <a:spcPct val="90000"/>
              </a:lnSpc>
              <a:spcBef>
                <a:spcPts val="1000"/>
              </a:spcBef>
              <a:spcAft>
                <a:spcPts val="0"/>
              </a:spcAft>
              <a:buClrTx/>
              <a:buSzPct val="100000"/>
              <a:buFont typeface="Arial" panose="020B0604020202020204"/>
              <a:buChar char="•"/>
              <a:defRPr sz="2800" b="0" i="0" u="none" strike="noStrike" cap="none" spc="0" baseline="0">
                <a:solidFill>
                  <a:srgbClr val="000000"/>
                </a:solidFill>
                <a:uFillTx/>
                <a:latin typeface="+mj-lt"/>
                <a:ea typeface="+mj-ea"/>
                <a:cs typeface="+mj-cs"/>
                <a:sym typeface="Calibri" panose="020F0502020204030204"/>
              </a:defRPr>
            </a:lvl6pPr>
            <a:lvl7pPr marL="3098800" marR="0" indent="-355600" algn="l" defTabSz="914400" rtl="0" latinLnBrk="0">
              <a:lnSpc>
                <a:spcPct val="90000"/>
              </a:lnSpc>
              <a:spcBef>
                <a:spcPts val="1000"/>
              </a:spcBef>
              <a:spcAft>
                <a:spcPts val="0"/>
              </a:spcAft>
              <a:buClrTx/>
              <a:buSzPct val="100000"/>
              <a:buFont typeface="Arial" panose="020B0604020202020204"/>
              <a:buChar char="•"/>
              <a:defRPr sz="2800" b="0" i="0" u="none" strike="noStrike" cap="none" spc="0" baseline="0">
                <a:solidFill>
                  <a:srgbClr val="000000"/>
                </a:solidFill>
                <a:uFillTx/>
                <a:latin typeface="+mj-lt"/>
                <a:ea typeface="+mj-ea"/>
                <a:cs typeface="+mj-cs"/>
                <a:sym typeface="Calibri" panose="020F0502020204030204"/>
              </a:defRPr>
            </a:lvl7pPr>
            <a:lvl8pPr marL="3556000" marR="0" indent="-355600" algn="l" defTabSz="914400" rtl="0" latinLnBrk="0">
              <a:lnSpc>
                <a:spcPct val="90000"/>
              </a:lnSpc>
              <a:spcBef>
                <a:spcPts val="1000"/>
              </a:spcBef>
              <a:spcAft>
                <a:spcPts val="0"/>
              </a:spcAft>
              <a:buClrTx/>
              <a:buSzPct val="100000"/>
              <a:buFont typeface="Arial" panose="020B0604020202020204"/>
              <a:buChar char="•"/>
              <a:defRPr sz="2800" b="0" i="0" u="none" strike="noStrike" cap="none" spc="0" baseline="0">
                <a:solidFill>
                  <a:srgbClr val="000000"/>
                </a:solidFill>
                <a:uFillTx/>
                <a:latin typeface="+mj-lt"/>
                <a:ea typeface="+mj-ea"/>
                <a:cs typeface="+mj-cs"/>
                <a:sym typeface="Calibri" panose="020F0502020204030204"/>
              </a:defRPr>
            </a:lvl8pPr>
            <a:lvl9pPr marL="4013200" marR="0" indent="-355600" algn="l" defTabSz="914400" rtl="0" latinLnBrk="0">
              <a:lnSpc>
                <a:spcPct val="90000"/>
              </a:lnSpc>
              <a:spcBef>
                <a:spcPts val="1000"/>
              </a:spcBef>
              <a:spcAft>
                <a:spcPts val="0"/>
              </a:spcAft>
              <a:buClrTx/>
              <a:buSzPct val="100000"/>
              <a:buFont typeface="Arial" panose="020B0604020202020204"/>
              <a:buChar char="•"/>
              <a:defRPr sz="2800" b="0" i="0" u="none" strike="noStrike" cap="none" spc="0" baseline="0">
                <a:solidFill>
                  <a:srgbClr val="000000"/>
                </a:solidFill>
                <a:uFillTx/>
                <a:latin typeface="+mj-lt"/>
                <a:ea typeface="+mj-ea"/>
                <a:cs typeface="+mj-cs"/>
                <a:sym typeface="Calibri" panose="020F0502020204030204"/>
              </a:defRPr>
            </a:lvl9pPr>
          </a:lstStyle>
          <a:p>
            <a:pPr algn="l" hangingPunct="1">
              <a:defRPr>
                <a:latin typeface="Times New Roman" panose="02020603050405020304"/>
                <a:ea typeface="Times New Roman" panose="02020603050405020304"/>
                <a:cs typeface="Times New Roman" panose="02020603050405020304"/>
                <a:sym typeface="Times New Roman" panose="02020603050405020304"/>
              </a:defRPr>
            </a:pPr>
            <a:r>
              <a:rPr lang="en-IN" sz="1800" b="1" dirty="0">
                <a:latin typeface="Times New Roman" panose="02020603050405020304"/>
                <a:ea typeface="Times New Roman" panose="02020603050405020304"/>
                <a:cs typeface="Times New Roman" panose="02020603050405020304"/>
                <a:sym typeface="Times New Roman" panose="02020603050405020304"/>
              </a:rPr>
              <a:t>                                                          Presented by:</a:t>
            </a:r>
          </a:p>
          <a:p>
            <a:pPr algn="l" hangingPunct="1">
              <a:defRPr sz="2200">
                <a:latin typeface="Times New Roman" panose="02020603050405020304"/>
                <a:ea typeface="Times New Roman" panose="02020603050405020304"/>
                <a:cs typeface="Times New Roman" panose="02020603050405020304"/>
                <a:sym typeface="Times New Roman" panose="02020603050405020304"/>
              </a:defRPr>
            </a:pPr>
            <a:r>
              <a:rPr lang="en-IN" sz="2200" dirty="0">
                <a:latin typeface="Times New Roman" panose="02020603050405020304"/>
                <a:ea typeface="Times New Roman" panose="02020603050405020304"/>
                <a:cs typeface="Times New Roman" panose="02020603050405020304"/>
                <a:sym typeface="Times New Roman" panose="02020603050405020304"/>
              </a:rPr>
              <a:t>		</a:t>
            </a:r>
            <a:r>
              <a:rPr lang="en-IN" sz="2200" b="1" dirty="0">
                <a:latin typeface="Times New Roman" panose="02020603050405020304"/>
                <a:ea typeface="Times New Roman" panose="02020603050405020304"/>
                <a:cs typeface="Times New Roman" panose="02020603050405020304"/>
                <a:sym typeface="Times New Roman" panose="02020603050405020304"/>
              </a:rPr>
              <a:t>         </a:t>
            </a:r>
            <a:r>
              <a:rPr lang="en-IN" sz="2000" dirty="0">
                <a:latin typeface="Times New Roman" panose="02020603050405020304"/>
                <a:ea typeface="Times New Roman" panose="02020603050405020304"/>
                <a:cs typeface="Times New Roman" panose="02020603050405020304"/>
                <a:sym typeface="Times New Roman" panose="02020603050405020304"/>
              </a:rPr>
              <a:t>Poorvi H             3BR22CS120</a:t>
            </a:r>
          </a:p>
          <a:p>
            <a:pPr algn="l" hangingPunct="1">
              <a:defRPr sz="2200">
                <a:latin typeface="Times New Roman" panose="02020603050405020304"/>
                <a:ea typeface="Times New Roman" panose="02020603050405020304"/>
                <a:cs typeface="Times New Roman" panose="02020603050405020304"/>
                <a:sym typeface="Times New Roman" panose="02020603050405020304"/>
              </a:defRPr>
            </a:pPr>
            <a:r>
              <a:rPr lang="en-IN" sz="2000" dirty="0">
                <a:latin typeface="Times New Roman" panose="02020603050405020304"/>
                <a:ea typeface="Times New Roman" panose="02020603050405020304"/>
                <a:cs typeface="Times New Roman" panose="02020603050405020304"/>
                <a:sym typeface="Times New Roman" panose="02020603050405020304"/>
              </a:rPr>
              <a:t>                                       Pragna A             3BR22CS122</a:t>
            </a:r>
          </a:p>
          <a:p>
            <a:pPr algn="l" hangingPunct="1">
              <a:defRPr sz="2200">
                <a:latin typeface="Times New Roman" panose="02020603050405020304"/>
                <a:ea typeface="Times New Roman" panose="02020603050405020304"/>
                <a:cs typeface="Times New Roman" panose="02020603050405020304"/>
                <a:sym typeface="Times New Roman" panose="02020603050405020304"/>
              </a:defRPr>
            </a:pPr>
            <a:r>
              <a:rPr lang="en-IN" sz="2000" dirty="0">
                <a:latin typeface="Times New Roman" panose="02020603050405020304"/>
                <a:ea typeface="Times New Roman" panose="02020603050405020304"/>
                <a:cs typeface="Times New Roman" panose="02020603050405020304"/>
                <a:sym typeface="Times New Roman" panose="02020603050405020304"/>
              </a:rPr>
              <a:t>		          Rajeshwari         </a:t>
            </a:r>
            <a:r>
              <a:rPr lang="en-US" altLang="en-IN" sz="2000" dirty="0">
                <a:latin typeface="Times New Roman" panose="02020603050405020304"/>
                <a:ea typeface="Times New Roman" panose="02020603050405020304"/>
                <a:cs typeface="Times New Roman" panose="02020603050405020304"/>
                <a:sym typeface="Times New Roman" panose="02020603050405020304"/>
              </a:rPr>
              <a:t> </a:t>
            </a:r>
            <a:r>
              <a:rPr lang="en-IN" sz="2000" dirty="0">
                <a:latin typeface="Times New Roman" panose="02020603050405020304"/>
                <a:ea typeface="Times New Roman" panose="02020603050405020304"/>
                <a:cs typeface="Times New Roman" panose="02020603050405020304"/>
                <a:sym typeface="Times New Roman" panose="02020603050405020304"/>
              </a:rPr>
              <a:t>3BR22CS136</a:t>
            </a:r>
          </a:p>
          <a:p>
            <a:pPr algn="l" hangingPunct="1">
              <a:defRPr sz="2200">
                <a:latin typeface="Times New Roman" panose="02020603050405020304"/>
                <a:ea typeface="Times New Roman" panose="02020603050405020304"/>
                <a:cs typeface="Times New Roman" panose="02020603050405020304"/>
                <a:sym typeface="Times New Roman" panose="02020603050405020304"/>
              </a:defRPr>
            </a:pPr>
            <a:r>
              <a:rPr lang="en-IN" sz="2000" dirty="0">
                <a:latin typeface="Times New Roman" panose="02020603050405020304"/>
                <a:ea typeface="Times New Roman" panose="02020603050405020304"/>
                <a:cs typeface="Times New Roman" panose="02020603050405020304"/>
                <a:sym typeface="Times New Roman" panose="02020603050405020304"/>
              </a:rPr>
              <a:t>		          B </a:t>
            </a:r>
            <a:r>
              <a:rPr lang="en-IN" sz="2000" dirty="0" err="1">
                <a:latin typeface="Times New Roman" panose="02020603050405020304"/>
                <a:ea typeface="Times New Roman" panose="02020603050405020304"/>
                <a:cs typeface="Times New Roman" panose="02020603050405020304"/>
                <a:sym typeface="Times New Roman" panose="02020603050405020304"/>
              </a:rPr>
              <a:t>Fouziya</a:t>
            </a:r>
            <a:r>
              <a:rPr lang="en-IN" sz="2000" dirty="0">
                <a:latin typeface="Times New Roman" panose="02020603050405020304"/>
                <a:ea typeface="Times New Roman" panose="02020603050405020304"/>
                <a:cs typeface="Times New Roman" panose="02020603050405020304"/>
                <a:sym typeface="Times New Roman" panose="02020603050405020304"/>
              </a:rPr>
              <a:t>           </a:t>
            </a:r>
            <a:r>
              <a:rPr lang="en-US" altLang="en-IN" sz="2000" dirty="0">
                <a:latin typeface="Times New Roman" panose="02020603050405020304"/>
                <a:ea typeface="Times New Roman" panose="02020603050405020304"/>
                <a:cs typeface="Times New Roman" panose="02020603050405020304"/>
                <a:sym typeface="Times New Roman" panose="02020603050405020304"/>
              </a:rPr>
              <a:t> </a:t>
            </a:r>
            <a:r>
              <a:rPr lang="en-IN" sz="2000" dirty="0">
                <a:latin typeface="Times New Roman" panose="02020603050405020304"/>
                <a:ea typeface="Times New Roman" panose="02020603050405020304"/>
                <a:cs typeface="Times New Roman" panose="02020603050405020304"/>
                <a:sym typeface="Times New Roman" panose="02020603050405020304"/>
              </a:rPr>
              <a:t>3BR23CS402</a:t>
            </a:r>
          </a:p>
        </p:txBody>
      </p:sp>
      <p:sp>
        <p:nvSpPr>
          <p:cNvPr id="3" name="TextBox 13"/>
          <p:cNvSpPr txBox="1"/>
          <p:nvPr/>
        </p:nvSpPr>
        <p:spPr>
          <a:xfrm>
            <a:off x="7360250" y="5035183"/>
            <a:ext cx="5000554" cy="2051844"/>
          </a:xfrm>
          <a:prstGeom prst="rect">
            <a:avLst/>
          </a:prstGeom>
        </p:spPr>
        <p:txBody>
          <a:bodyPr lIns="0" tIns="0" rIns="0" bIns="0" rtlCol="0" anchor="t">
            <a:spAutoFit/>
          </a:bodyPr>
          <a:lstStyle/>
          <a:p>
            <a:pPr algn="ctr">
              <a:lnSpc>
                <a:spcPts val="3240"/>
              </a:lnSpc>
            </a:pPr>
            <a:r>
              <a:rPr lang="en-US" b="1" dirty="0">
                <a:solidFill>
                  <a:srgbClr val="000000"/>
                </a:solidFill>
                <a:latin typeface="Noto Sans"/>
                <a:ea typeface="Noto Sans"/>
                <a:cs typeface="Noto Sans"/>
                <a:sym typeface="Noto Sans"/>
              </a:rPr>
              <a:t>Project Coordinator </a:t>
            </a:r>
          </a:p>
          <a:p>
            <a:pPr algn="ctr">
              <a:lnSpc>
                <a:spcPts val="3240"/>
              </a:lnSpc>
            </a:pPr>
            <a:r>
              <a:rPr lang="en-US" sz="2000" dirty="0">
                <a:solidFill>
                  <a:srgbClr val="000000"/>
                </a:solidFill>
                <a:latin typeface="Noto Sans"/>
                <a:ea typeface="Noto Sans"/>
                <a:cs typeface="Noto Sans"/>
                <a:sym typeface="Noto Sans"/>
              </a:rPr>
              <a:t>Mr. </a:t>
            </a:r>
            <a:r>
              <a:rPr lang="en-US" sz="2000" dirty="0" err="1">
                <a:latin typeface="Noto Sans"/>
                <a:ea typeface="Noto Sans"/>
                <a:cs typeface="Noto Sans"/>
                <a:sym typeface="Noto Sans"/>
              </a:rPr>
              <a:t>Chandrashekar</a:t>
            </a:r>
            <a:r>
              <a:rPr lang="en-US" sz="2000" dirty="0">
                <a:latin typeface="Noto Sans"/>
                <a:ea typeface="Noto Sans"/>
                <a:cs typeface="Noto Sans"/>
                <a:sym typeface="Noto Sans"/>
              </a:rPr>
              <a:t> V</a:t>
            </a:r>
          </a:p>
          <a:p>
            <a:pPr algn="ctr">
              <a:lnSpc>
                <a:spcPts val="3240"/>
              </a:lnSpc>
            </a:pPr>
            <a:endParaRPr lang="en-US" sz="2000" dirty="0">
              <a:solidFill>
                <a:srgbClr val="000000"/>
              </a:solidFill>
              <a:latin typeface="Noto Sans"/>
              <a:ea typeface="Noto Sans"/>
              <a:cs typeface="Noto Sans"/>
              <a:sym typeface="Noto Sans"/>
            </a:endParaRPr>
          </a:p>
          <a:p>
            <a:pPr algn="ctr">
              <a:lnSpc>
                <a:spcPts val="3240"/>
              </a:lnSpc>
            </a:pPr>
            <a:r>
              <a:rPr lang="en-US" sz="2000" dirty="0">
                <a:solidFill>
                  <a:srgbClr val="000000"/>
                </a:solidFill>
                <a:latin typeface="Noto Sans"/>
                <a:ea typeface="Noto Sans"/>
                <a:cs typeface="Noto Sans"/>
                <a:sym typeface="Noto Sans"/>
              </a:rPr>
              <a:t> </a:t>
            </a:r>
          </a:p>
          <a:p>
            <a:pPr algn="ctr">
              <a:lnSpc>
                <a:spcPts val="3240"/>
              </a:lnSpc>
            </a:pPr>
            <a:endParaRPr lang="en-US" sz="2700" dirty="0">
              <a:solidFill>
                <a:srgbClr val="000000"/>
              </a:solidFill>
              <a:latin typeface="Noto Sans"/>
              <a:ea typeface="Noto Sans"/>
              <a:cs typeface="Noto Sans"/>
              <a:sym typeface="Noto Sans"/>
            </a:endParaRPr>
          </a:p>
        </p:txBody>
      </p:sp>
      <p:sp>
        <p:nvSpPr>
          <p:cNvPr id="4" name="TextBox 13"/>
          <p:cNvSpPr txBox="1"/>
          <p:nvPr/>
        </p:nvSpPr>
        <p:spPr>
          <a:xfrm>
            <a:off x="-168802" y="5035183"/>
            <a:ext cx="5000554" cy="1641475"/>
          </a:xfrm>
          <a:prstGeom prst="rect">
            <a:avLst/>
          </a:prstGeom>
        </p:spPr>
        <p:txBody>
          <a:bodyPr lIns="0" tIns="0" rIns="0" bIns="0" rtlCol="0" anchor="t">
            <a:spAutoFit/>
          </a:bodyPr>
          <a:lstStyle/>
          <a:p>
            <a:pPr algn="ctr">
              <a:lnSpc>
                <a:spcPts val="3240"/>
              </a:lnSpc>
            </a:pPr>
            <a:r>
              <a:rPr lang="en-US" b="1" dirty="0">
                <a:solidFill>
                  <a:srgbClr val="000000"/>
                </a:solidFill>
                <a:latin typeface="Noto Sans"/>
                <a:ea typeface="Noto Sans"/>
                <a:cs typeface="Noto Sans"/>
                <a:sym typeface="Noto Sans"/>
              </a:rPr>
              <a:t>Project Guide </a:t>
            </a:r>
          </a:p>
          <a:p>
            <a:pPr algn="ctr">
              <a:lnSpc>
                <a:spcPts val="3240"/>
              </a:lnSpc>
            </a:pPr>
            <a:r>
              <a:rPr lang="en-US" sz="2400" dirty="0"/>
              <a:t>Dr. C K </a:t>
            </a:r>
            <a:r>
              <a:rPr lang="en-US" sz="2400" dirty="0" err="1"/>
              <a:t>Srinivas</a:t>
            </a:r>
            <a:endParaRPr lang="en-US" sz="2400" dirty="0"/>
          </a:p>
          <a:p>
            <a:pPr algn="ctr">
              <a:lnSpc>
                <a:spcPts val="3240"/>
              </a:lnSpc>
            </a:pPr>
            <a:endParaRPr lang="en-US" sz="2000" dirty="0">
              <a:solidFill>
                <a:srgbClr val="000000"/>
              </a:solidFill>
              <a:latin typeface="Noto Sans"/>
              <a:ea typeface="Noto Sans"/>
              <a:cs typeface="Noto Sans"/>
              <a:sym typeface="Noto Sans"/>
            </a:endParaRPr>
          </a:p>
          <a:p>
            <a:pPr algn="ctr">
              <a:lnSpc>
                <a:spcPts val="3240"/>
              </a:lnSpc>
            </a:pPr>
            <a:endParaRPr lang="en-US" sz="2700" dirty="0">
              <a:solidFill>
                <a:srgbClr val="000000"/>
              </a:solidFill>
              <a:latin typeface="Noto Sans"/>
              <a:ea typeface="Noto Sans"/>
              <a:cs typeface="Noto Sans"/>
              <a:sym typeface="Noto Sa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65200" y="-335280"/>
            <a:ext cx="10515600" cy="1325563"/>
          </a:xfrm>
        </p:spPr>
        <p:txBody>
          <a:bodyPr>
            <a:normAutofit/>
          </a:bodyPr>
          <a:lstStyle/>
          <a:p>
            <a:pPr algn="ctr"/>
            <a:r>
              <a:rPr lang="en-US" sz="3200" b="1" dirty="0">
                <a:latin typeface="Times New Roman" panose="02020603050405020304" pitchFamily="18" charset="0"/>
                <a:cs typeface="Times New Roman" panose="02020603050405020304" pitchFamily="18" charset="0"/>
              </a:rPr>
              <a:t>Index</a:t>
            </a:r>
            <a:endParaRPr lang="en-IN" sz="3200" b="1"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idx="1"/>
          </p:nvPr>
        </p:nvSpPr>
        <p:spPr>
          <a:xfrm>
            <a:off x="525780" y="538480"/>
            <a:ext cx="11821795" cy="2980055"/>
          </a:xfrm>
        </p:spPr>
        <p:txBody>
          <a:bodyPr>
            <a:noAutofit/>
          </a:bodyPr>
          <a:lstStyle/>
          <a:p>
            <a:pPr marL="457200" marR="0" lvl="0" indent="-457200" algn="just" defTabSz="914400" rtl="0" eaLnBrk="0" fontAlgn="base" latinLnBrk="0" hangingPunct="0">
              <a:lnSpc>
                <a:spcPct val="90000"/>
              </a:lnSpc>
              <a:spcBef>
                <a:spcPts val="1000"/>
              </a:spcBef>
              <a:spcAft>
                <a:spcPct val="0"/>
              </a:spcAft>
              <a:buClrTx/>
              <a:buSzTx/>
              <a:buFont typeface="Arial" panose="020B0604020202020204" pitchFamily="34" charset="0"/>
              <a:buChar char="•"/>
              <a:defRPr/>
            </a:pPr>
            <a:r>
              <a:rPr lang="en-US" sz="2400" noProof="0" dirty="0">
                <a:ln>
                  <a:noFill/>
                </a:ln>
                <a:effectLst/>
                <a:uLnTx/>
                <a:uFillTx/>
                <a:sym typeface="+mn-ea"/>
              </a:rPr>
              <a:t>Abstract</a:t>
            </a:r>
            <a:endParaRPr kumimoji="0" lang="en-US" sz="2400" b="0" i="0" u="none" strike="noStrike" kern="1200" cap="none" spc="0" normalizeH="0" baseline="0" noProof="0" dirty="0">
              <a:ln>
                <a:noFill/>
              </a:ln>
              <a:solidFill>
                <a:schemeClr val="tx1"/>
              </a:solidFill>
              <a:effectLst/>
              <a:uLnTx/>
              <a:uFillTx/>
              <a:latin typeface="+mn-lt"/>
              <a:ea typeface="+mn-ea"/>
              <a:cs typeface="+mn-cs"/>
            </a:endParaRPr>
          </a:p>
          <a:p>
            <a:pPr marL="457200" marR="0" lvl="0" indent="-457200" algn="just" defTabSz="914400" rtl="0" eaLnBrk="0" fontAlgn="base" latinLnBrk="0" hangingPunct="0">
              <a:lnSpc>
                <a:spcPct val="90000"/>
              </a:lnSpc>
              <a:spcBef>
                <a:spcPts val="1000"/>
              </a:spcBef>
              <a:spcAft>
                <a:spcPct val="0"/>
              </a:spcAft>
              <a:buClrTx/>
              <a:buSzTx/>
              <a:buFont typeface="Arial" panose="020B0604020202020204" pitchFamily="34" charset="0"/>
              <a:buChar char="•"/>
              <a:defRPr/>
            </a:pPr>
            <a:r>
              <a:rPr lang="en-US" sz="2400" noProof="0" dirty="0">
                <a:ln>
                  <a:noFill/>
                </a:ln>
                <a:effectLst/>
                <a:uLnTx/>
                <a:uFillTx/>
                <a:sym typeface="+mn-ea"/>
              </a:rPr>
              <a:t>Vision, Mission ,Objectives and Problem Statement</a:t>
            </a:r>
            <a:endParaRPr kumimoji="0" lang="en-US" sz="2400" b="0" i="0" u="none" strike="noStrike" kern="1200" cap="none" spc="0" normalizeH="0" baseline="0" noProof="0" dirty="0">
              <a:ln>
                <a:noFill/>
              </a:ln>
              <a:solidFill>
                <a:schemeClr val="tx1"/>
              </a:solidFill>
              <a:effectLst/>
              <a:uLnTx/>
              <a:uFillTx/>
              <a:latin typeface="+mn-lt"/>
              <a:ea typeface="+mn-ea"/>
              <a:cs typeface="+mn-cs"/>
            </a:endParaRPr>
          </a:p>
          <a:p>
            <a:pPr marL="457200" marR="0" lvl="0" indent="-457200" algn="just" defTabSz="914400" rtl="0" eaLnBrk="0" fontAlgn="base" latinLnBrk="0" hangingPunct="0">
              <a:lnSpc>
                <a:spcPct val="90000"/>
              </a:lnSpc>
              <a:spcBef>
                <a:spcPts val="1000"/>
              </a:spcBef>
              <a:spcAft>
                <a:spcPct val="0"/>
              </a:spcAft>
              <a:buClrTx/>
              <a:buSzTx/>
              <a:buFont typeface="Arial" panose="020B0604020202020204" pitchFamily="34" charset="0"/>
              <a:buChar char="•"/>
              <a:defRPr/>
            </a:pPr>
            <a:r>
              <a:rPr lang="en-US" sz="2400" noProof="0" dirty="0">
                <a:ln>
                  <a:noFill/>
                </a:ln>
                <a:effectLst/>
                <a:uLnTx/>
                <a:uFillTx/>
                <a:sym typeface="+mn-ea"/>
              </a:rPr>
              <a:t>Introduction</a:t>
            </a:r>
            <a:endParaRPr kumimoji="0" lang="en-US" sz="2400" b="0" i="0" u="none" strike="noStrike" kern="1200" cap="none" spc="0" normalizeH="0" baseline="0" noProof="0" dirty="0">
              <a:ln>
                <a:noFill/>
              </a:ln>
              <a:solidFill>
                <a:schemeClr val="tx1"/>
              </a:solidFill>
              <a:effectLst/>
              <a:uLnTx/>
              <a:uFillTx/>
              <a:latin typeface="+mn-lt"/>
              <a:ea typeface="+mn-ea"/>
              <a:cs typeface="+mn-cs"/>
            </a:endParaRPr>
          </a:p>
          <a:p>
            <a:pPr marL="457200" marR="0" lvl="0" indent="-457200" algn="just" defTabSz="914400" rtl="0" eaLnBrk="0" fontAlgn="base" latinLnBrk="0" hangingPunct="0">
              <a:lnSpc>
                <a:spcPct val="90000"/>
              </a:lnSpc>
              <a:spcBef>
                <a:spcPts val="1000"/>
              </a:spcBef>
              <a:spcAft>
                <a:spcPct val="0"/>
              </a:spcAft>
              <a:buClrTx/>
              <a:buSzTx/>
              <a:buFont typeface="Arial" panose="020B0604020202020204" pitchFamily="34" charset="0"/>
              <a:buChar char="•"/>
              <a:defRPr/>
            </a:pPr>
            <a:r>
              <a:rPr lang="en-US" sz="2400" noProof="0" dirty="0">
                <a:ln>
                  <a:noFill/>
                </a:ln>
                <a:effectLst/>
                <a:uLnTx/>
                <a:uFillTx/>
                <a:sym typeface="+mn-ea"/>
              </a:rPr>
              <a:t>Literature Survey</a:t>
            </a:r>
            <a:endParaRPr kumimoji="0" lang="en-US" sz="2400" b="0" i="0" u="none" strike="noStrike" kern="1200" cap="none" spc="0" normalizeH="0" baseline="0" noProof="0" dirty="0">
              <a:ln>
                <a:noFill/>
              </a:ln>
              <a:solidFill>
                <a:schemeClr val="tx1"/>
              </a:solidFill>
              <a:effectLst/>
              <a:uLnTx/>
              <a:uFillTx/>
              <a:latin typeface="+mn-lt"/>
              <a:ea typeface="+mn-ea"/>
              <a:cs typeface="+mn-cs"/>
            </a:endParaRPr>
          </a:p>
          <a:p>
            <a:pPr marL="457200" marR="0" lvl="0" indent="-457200" algn="just" defTabSz="914400" rtl="0" eaLnBrk="0" fontAlgn="base" latinLnBrk="0" hangingPunct="0">
              <a:lnSpc>
                <a:spcPct val="90000"/>
              </a:lnSpc>
              <a:spcBef>
                <a:spcPts val="1000"/>
              </a:spcBef>
              <a:spcAft>
                <a:spcPct val="0"/>
              </a:spcAft>
              <a:buClrTx/>
              <a:buSzTx/>
              <a:buFont typeface="Arial" panose="020B0604020202020204" pitchFamily="34" charset="0"/>
              <a:buChar char="•"/>
              <a:defRPr/>
            </a:pPr>
            <a:r>
              <a:rPr lang="en-US" sz="2400" noProof="0" dirty="0">
                <a:ln>
                  <a:noFill/>
                </a:ln>
                <a:effectLst/>
                <a:uLnTx/>
                <a:uFillTx/>
                <a:sym typeface="+mn-ea"/>
              </a:rPr>
              <a:t>Existing System and Proposed System</a:t>
            </a:r>
            <a:endParaRPr kumimoji="0" lang="en-US" sz="2400" b="0" i="0" u="none" strike="noStrike" kern="1200" cap="none" spc="0" normalizeH="0" baseline="0" noProof="0" dirty="0">
              <a:ln>
                <a:noFill/>
              </a:ln>
              <a:solidFill>
                <a:schemeClr val="tx1"/>
              </a:solidFill>
              <a:effectLst/>
              <a:uLnTx/>
              <a:uFillTx/>
              <a:latin typeface="+mn-lt"/>
              <a:ea typeface="+mn-ea"/>
              <a:cs typeface="+mn-cs"/>
            </a:endParaRPr>
          </a:p>
          <a:p>
            <a:pPr marL="457200" marR="0" lvl="0" indent="-457200" algn="just" defTabSz="914400" rtl="0" eaLnBrk="0" fontAlgn="base" latinLnBrk="0" hangingPunct="0">
              <a:lnSpc>
                <a:spcPct val="90000"/>
              </a:lnSpc>
              <a:spcBef>
                <a:spcPts val="1000"/>
              </a:spcBef>
              <a:spcAft>
                <a:spcPct val="0"/>
              </a:spcAft>
              <a:buClrTx/>
              <a:buSzTx/>
              <a:buFont typeface="Arial" panose="020B0604020202020204" pitchFamily="34" charset="0"/>
              <a:buChar char="•"/>
              <a:defRPr/>
            </a:pPr>
            <a:r>
              <a:rPr lang="en-US" sz="2400" noProof="0" dirty="0">
                <a:ln>
                  <a:noFill/>
                </a:ln>
                <a:effectLst/>
                <a:uLnTx/>
                <a:uFillTx/>
                <a:sym typeface="+mn-ea"/>
              </a:rPr>
              <a:t>Feasibility Study</a:t>
            </a:r>
            <a:endParaRPr kumimoji="0" lang="en-US" sz="2400" b="0" i="0" u="none" strike="noStrike" kern="1200" cap="none" spc="0" normalizeH="0" baseline="0" noProof="0" dirty="0">
              <a:ln>
                <a:noFill/>
              </a:ln>
              <a:solidFill>
                <a:schemeClr val="tx1"/>
              </a:solidFill>
              <a:effectLst/>
              <a:uLnTx/>
              <a:uFillTx/>
              <a:latin typeface="+mn-lt"/>
              <a:ea typeface="+mn-ea"/>
              <a:cs typeface="+mn-cs"/>
            </a:endParaRPr>
          </a:p>
          <a:p>
            <a:pPr marL="457200" marR="0" lvl="0" indent="-457200" algn="just" defTabSz="914400" rtl="0" eaLnBrk="0" fontAlgn="base" latinLnBrk="0" hangingPunct="0">
              <a:lnSpc>
                <a:spcPct val="90000"/>
              </a:lnSpc>
              <a:spcBef>
                <a:spcPts val="1000"/>
              </a:spcBef>
              <a:spcAft>
                <a:spcPct val="0"/>
              </a:spcAft>
              <a:buClrTx/>
              <a:buSzTx/>
              <a:buFont typeface="Arial" panose="020B0604020202020204" pitchFamily="34" charset="0"/>
              <a:buChar char="•"/>
              <a:defRPr/>
            </a:pPr>
            <a:r>
              <a:rPr lang="en-US" sz="2400" noProof="0" dirty="0">
                <a:ln>
                  <a:noFill/>
                </a:ln>
                <a:effectLst/>
                <a:uLnTx/>
                <a:uFillTx/>
                <a:sym typeface="+mn-ea"/>
              </a:rPr>
              <a:t>Project Management and Cost Estimation </a:t>
            </a:r>
            <a:endParaRPr kumimoji="0" lang="en-US" sz="2400" b="0" i="0" u="none" strike="noStrike" kern="1200" cap="none" spc="0" normalizeH="0" baseline="0" noProof="0" dirty="0">
              <a:ln>
                <a:noFill/>
              </a:ln>
              <a:solidFill>
                <a:schemeClr val="tx1"/>
              </a:solidFill>
              <a:effectLst/>
              <a:uLnTx/>
              <a:uFillTx/>
              <a:latin typeface="+mn-lt"/>
              <a:ea typeface="+mn-ea"/>
              <a:cs typeface="+mn-cs"/>
            </a:endParaRPr>
          </a:p>
          <a:p>
            <a:pPr marL="457200" marR="0" lvl="0" indent="-457200" algn="just" defTabSz="914400" rtl="0" eaLnBrk="0" fontAlgn="base" latinLnBrk="0" hangingPunct="0">
              <a:lnSpc>
                <a:spcPct val="90000"/>
              </a:lnSpc>
              <a:spcBef>
                <a:spcPts val="1000"/>
              </a:spcBef>
              <a:spcAft>
                <a:spcPct val="0"/>
              </a:spcAft>
              <a:buClrTx/>
              <a:buSzTx/>
              <a:buFont typeface="Arial" panose="020B0604020202020204" pitchFamily="34" charset="0"/>
              <a:buChar char="•"/>
              <a:defRPr/>
            </a:pPr>
            <a:r>
              <a:rPr lang="en-US" sz="2400" noProof="0" dirty="0">
                <a:ln>
                  <a:noFill/>
                </a:ln>
                <a:effectLst/>
                <a:uLnTx/>
                <a:uFillTx/>
                <a:sym typeface="+mn-ea"/>
              </a:rPr>
              <a:t>Hardware and Software Requirements</a:t>
            </a:r>
            <a:endParaRPr kumimoji="0" lang="en-IN" sz="2400" b="0" i="0" u="none" strike="noStrike" kern="1200" cap="none" spc="0" normalizeH="0" baseline="0" noProof="0" dirty="0">
              <a:ln>
                <a:noFill/>
              </a:ln>
              <a:solidFill>
                <a:schemeClr val="tx1"/>
              </a:solidFill>
              <a:effectLst/>
              <a:uLnTx/>
              <a:uFillTx/>
              <a:latin typeface="+mn-lt"/>
              <a:ea typeface="+mn-ea"/>
              <a:cs typeface="+mn-cs"/>
            </a:endParaRPr>
          </a:p>
          <a:p>
            <a:pPr marL="457200" marR="0" lvl="0" indent="-457200" algn="just" defTabSz="914400" rtl="0" eaLnBrk="0" fontAlgn="base" latinLnBrk="0" hangingPunct="0">
              <a:lnSpc>
                <a:spcPct val="90000"/>
              </a:lnSpc>
              <a:spcBef>
                <a:spcPts val="1000"/>
              </a:spcBef>
              <a:spcAft>
                <a:spcPct val="0"/>
              </a:spcAft>
              <a:buClrTx/>
              <a:buSzTx/>
              <a:buFont typeface="Arial" panose="020B0604020202020204" pitchFamily="34" charset="0"/>
              <a:buChar char="•"/>
              <a:defRPr/>
            </a:pPr>
            <a:r>
              <a:rPr lang="en-US" sz="2400" noProof="0" dirty="0">
                <a:ln>
                  <a:noFill/>
                </a:ln>
                <a:effectLst/>
                <a:uLnTx/>
                <a:uFillTx/>
                <a:sym typeface="+mn-ea"/>
              </a:rPr>
              <a:t>System Design</a:t>
            </a:r>
            <a:endParaRPr kumimoji="0" lang="en-US" sz="2400" b="0" i="0" u="none" strike="noStrike" kern="1200" cap="none" spc="0" normalizeH="0" baseline="0" noProof="0" dirty="0">
              <a:ln>
                <a:noFill/>
              </a:ln>
              <a:solidFill>
                <a:schemeClr val="tx1"/>
              </a:solidFill>
              <a:effectLst/>
              <a:uLnTx/>
              <a:uFillTx/>
              <a:latin typeface="+mn-lt"/>
              <a:ea typeface="+mn-ea"/>
              <a:cs typeface="+mn-cs"/>
            </a:endParaRPr>
          </a:p>
          <a:p>
            <a:pPr marL="457200" marR="0" lvl="0" indent="-457200" algn="just" defTabSz="914400" rtl="0" eaLnBrk="0" fontAlgn="base" latinLnBrk="0" hangingPunct="0">
              <a:lnSpc>
                <a:spcPct val="90000"/>
              </a:lnSpc>
              <a:spcBef>
                <a:spcPts val="1000"/>
              </a:spcBef>
              <a:spcAft>
                <a:spcPct val="0"/>
              </a:spcAft>
              <a:buClrTx/>
              <a:buSzTx/>
              <a:buFont typeface="Arial" panose="020B0604020202020204" pitchFamily="34" charset="0"/>
              <a:buChar char="•"/>
              <a:defRPr/>
            </a:pPr>
            <a:r>
              <a:rPr lang="en-US" sz="2400" noProof="0" dirty="0">
                <a:ln>
                  <a:noFill/>
                </a:ln>
                <a:effectLst/>
                <a:uLnTx/>
                <a:uFillTx/>
                <a:sym typeface="+mn-ea"/>
              </a:rPr>
              <a:t>Implementation</a:t>
            </a:r>
            <a:endParaRPr kumimoji="0" lang="en-US" sz="2400" b="0" i="0" u="none" strike="noStrike" kern="1200" cap="none" spc="0" normalizeH="0" baseline="0" noProof="0" dirty="0">
              <a:ln>
                <a:noFill/>
              </a:ln>
              <a:solidFill>
                <a:schemeClr val="tx1"/>
              </a:solidFill>
              <a:effectLst/>
              <a:uLnTx/>
              <a:uFillTx/>
              <a:latin typeface="+mn-lt"/>
              <a:ea typeface="+mn-ea"/>
              <a:cs typeface="+mn-cs"/>
            </a:endParaRPr>
          </a:p>
          <a:p>
            <a:pPr marL="457200" marR="0" lvl="0" indent="-457200" algn="just" defTabSz="914400" rtl="0" eaLnBrk="0" fontAlgn="base" latinLnBrk="0" hangingPunct="0">
              <a:lnSpc>
                <a:spcPct val="90000"/>
              </a:lnSpc>
              <a:spcBef>
                <a:spcPts val="1000"/>
              </a:spcBef>
              <a:spcAft>
                <a:spcPct val="0"/>
              </a:spcAft>
              <a:buClrTx/>
              <a:buSzTx/>
              <a:buFont typeface="Arial" panose="020B0604020202020204" pitchFamily="34" charset="0"/>
              <a:buChar char="•"/>
              <a:defRPr/>
            </a:pPr>
            <a:r>
              <a:rPr lang="en-US" sz="2400" noProof="0" dirty="0">
                <a:ln>
                  <a:noFill/>
                </a:ln>
                <a:effectLst/>
                <a:uLnTx/>
                <a:uFillTx/>
                <a:sym typeface="+mn-ea"/>
              </a:rPr>
              <a:t>Results and Discussion</a:t>
            </a:r>
            <a:endParaRPr kumimoji="0" lang="en-US" sz="24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just" defTabSz="914400" rtl="0" eaLnBrk="0" fontAlgn="base" latinLnBrk="0" hangingPunct="0">
              <a:lnSpc>
                <a:spcPct val="90000"/>
              </a:lnSpc>
              <a:spcBef>
                <a:spcPts val="1000"/>
              </a:spcBef>
              <a:spcAft>
                <a:spcPct val="0"/>
              </a:spcAft>
              <a:buClrTx/>
              <a:buSzTx/>
              <a:buFont typeface="Arial" panose="020B0604020202020204" pitchFamily="34" charset="0"/>
              <a:buChar char="•"/>
              <a:defRPr/>
            </a:pPr>
            <a:r>
              <a:rPr lang="en-US" sz="2400" noProof="0" dirty="0">
                <a:ln>
                  <a:noFill/>
                </a:ln>
                <a:effectLst/>
                <a:uLnTx/>
                <a:uFillTx/>
                <a:sym typeface="+mn-ea"/>
              </a:rPr>
              <a:t> Conclusion  and Future Scope</a:t>
            </a:r>
            <a:endParaRPr kumimoji="0" lang="en-US" sz="24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just" defTabSz="914400" rtl="0" eaLnBrk="0" fontAlgn="base" latinLnBrk="0" hangingPunct="0">
              <a:lnSpc>
                <a:spcPct val="90000"/>
              </a:lnSpc>
              <a:spcBef>
                <a:spcPts val="1000"/>
              </a:spcBef>
              <a:spcAft>
                <a:spcPct val="0"/>
              </a:spcAft>
              <a:buClrTx/>
              <a:buSzTx/>
              <a:buFont typeface="Arial" panose="020B0604020202020204" pitchFamily="34" charset="0"/>
              <a:buChar char="•"/>
              <a:defRPr/>
            </a:pPr>
            <a:r>
              <a:rPr lang="en-US" sz="2400" noProof="0" dirty="0">
                <a:ln>
                  <a:noFill/>
                </a:ln>
                <a:effectLst/>
                <a:uLnTx/>
                <a:uFillTx/>
                <a:sym typeface="+mn-ea"/>
              </a:rPr>
              <a:t> References</a:t>
            </a:r>
            <a:endParaRPr kumimoji="0" lang="en-US" sz="24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just" defTabSz="914400" rtl="0" eaLnBrk="0" fontAlgn="base" latinLnBrk="0" hangingPunct="0">
              <a:lnSpc>
                <a:spcPct val="90000"/>
              </a:lnSpc>
              <a:spcBef>
                <a:spcPts val="1000"/>
              </a:spcBef>
              <a:spcAft>
                <a:spcPct val="0"/>
              </a:spcAft>
              <a:buClrTx/>
              <a:buSzTx/>
              <a:buFont typeface="Arial" panose="020B0604020202020204" pitchFamily="34" charset="0"/>
              <a:buChar char="•"/>
              <a:defRPr/>
            </a:pPr>
            <a:r>
              <a:rPr lang="en-US" sz="2400" noProof="0" dirty="0">
                <a:ln>
                  <a:noFill/>
                </a:ln>
                <a:effectLst/>
                <a:uLnTx/>
                <a:uFillTx/>
                <a:sym typeface="+mn-ea"/>
              </a:rPr>
              <a:t> Publication Status</a:t>
            </a:r>
            <a:endParaRPr lang="en-IN"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86CB4B4D-7CA3-9044-876B-883B54F8677D}" type="slidenum">
              <a:rPr lang="en-IN" smtClean="0"/>
              <a:t>2</a:t>
            </a:fld>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Title 1"/>
          <p:cNvSpPr txBox="1">
            <a:spLocks noGrp="1"/>
          </p:cNvSpPr>
          <p:nvPr>
            <p:ph type="title"/>
          </p:nvPr>
        </p:nvSpPr>
        <p:spPr>
          <a:xfrm>
            <a:off x="750919" y="253315"/>
            <a:ext cx="10515601" cy="808064"/>
          </a:xfrm>
          <a:prstGeom prst="rect">
            <a:avLst/>
          </a:prstGeom>
        </p:spPr>
        <p:txBody>
          <a:bodyPr>
            <a:normAutofit/>
          </a:bodyPr>
          <a:lstStyle>
            <a:lvl1pPr>
              <a:defRPr b="1">
                <a:latin typeface="Times New Roman" panose="02020603050405020304"/>
                <a:ea typeface="Times New Roman" panose="02020603050405020304"/>
                <a:cs typeface="Times New Roman" panose="02020603050405020304"/>
                <a:sym typeface="Times New Roman" panose="02020603050405020304"/>
              </a:defRPr>
            </a:lvl1pPr>
          </a:lstStyle>
          <a:p>
            <a:r>
              <a:rPr sz="3600" dirty="0"/>
              <a:t>Abstract</a:t>
            </a:r>
          </a:p>
        </p:txBody>
      </p:sp>
      <p:sp>
        <p:nvSpPr>
          <p:cNvPr id="108" name="Content Placeholder 2"/>
          <p:cNvSpPr txBox="1">
            <a:spLocks noGrp="1"/>
          </p:cNvSpPr>
          <p:nvPr>
            <p:ph idx="1"/>
          </p:nvPr>
        </p:nvSpPr>
        <p:spPr>
          <a:xfrm>
            <a:off x="750919" y="883199"/>
            <a:ext cx="10515601" cy="5894080"/>
          </a:xfrm>
          <a:prstGeom prst="rect">
            <a:avLst/>
          </a:prstGeom>
        </p:spPr>
        <p:txBody>
          <a:bodyPr>
            <a:noAutofit/>
          </a:bodyPr>
          <a:lstStyle/>
          <a:p>
            <a:pPr marL="0" indent="0" algn="just">
              <a:lnSpc>
                <a:spcPct val="150000"/>
              </a:lnSpc>
              <a:buNone/>
            </a:pPr>
            <a:r>
              <a:rPr lang="en-US" sz="2200" dirty="0">
                <a:latin typeface="Times New Roman" panose="02020603050405020304" pitchFamily="18" charset="0"/>
                <a:cs typeface="Times New Roman" panose="02020603050405020304" pitchFamily="18" charset="0"/>
              </a:rPr>
              <a:t>The Non-Invasive Blood Group Detection Using Fingerprint Project utilizes deep learning techniques to overcome the limitations of traditional blood typing, which require physical samples and lab analysis, making them slow and impractical in many scenarios. This project introduces a fingerprint-based blood group classification system employing leading Convolutional Neural Network (CNN) architectures- </a:t>
            </a:r>
            <a:r>
              <a:rPr lang="en-US" sz="2200" dirty="0" err="1">
                <a:latin typeface="Times New Roman" panose="02020603050405020304" pitchFamily="18" charset="0"/>
                <a:cs typeface="Times New Roman" panose="02020603050405020304" pitchFamily="18" charset="0"/>
              </a:rPr>
              <a:t>ResNet</a:t>
            </a:r>
            <a:r>
              <a:rPr lang="en-US" sz="2200" dirty="0">
                <a:latin typeface="Times New Roman" panose="02020603050405020304" pitchFamily="18" charset="0"/>
                <a:cs typeface="Times New Roman" panose="02020603050405020304" pitchFamily="18" charset="0"/>
              </a:rPr>
              <a:t> to  identify blood groups directly from fingerprint images. By capitalizing on the distinctive patterns inherent in fingerprints and the power of deep learning, the approach offers rapid, user-friendly, and non-invasive blood group detection. This system has significant applications in healthcare diagnostics, biometric identification, and promising greater accessibility and speed compared to conventional methods</a:t>
            </a:r>
            <a:r>
              <a:rPr lang="en-IN" altLang="en-US" sz="2200" dirty="0">
                <a:latin typeface="Times New Roman" panose="02020603050405020304" pitchFamily="18" charset="0"/>
                <a:cs typeface="Times New Roman" panose="02020603050405020304" pitchFamily="18" charset="0"/>
              </a:rPr>
              <a:t>.</a:t>
            </a:r>
          </a:p>
        </p:txBody>
      </p:sp>
      <p:sp>
        <p:nvSpPr>
          <p:cNvPr id="2" name="Slide Number Placeholder 1"/>
          <p:cNvSpPr>
            <a:spLocks noGrp="1"/>
          </p:cNvSpPr>
          <p:nvPr>
            <p:ph type="sldNum" sz="quarter" idx="12"/>
          </p:nvPr>
        </p:nvSpPr>
        <p:spPr/>
        <p:txBody>
          <a:bodyPr/>
          <a:lstStyle/>
          <a:p>
            <a:fld id="{86CB4B4D-7CA3-9044-876B-883B54F8677D}" type="slidenum">
              <a:rPr lang="en-IN" smtClean="0"/>
              <a:t>3</a:t>
            </a:fld>
            <a:endParaRPr lang="en-IN"/>
          </a:p>
        </p:txBody>
      </p:sp>
      <p:sp>
        <p:nvSpPr>
          <p:cNvPr id="3" name="TextBox 2"/>
          <p:cNvSpPr txBox="1"/>
          <p:nvPr/>
        </p:nvSpPr>
        <p:spPr>
          <a:xfrm>
            <a:off x="3646932" y="16347"/>
            <a:ext cx="6784848"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r>
              <a:rPr lang="en-US" dirty="0">
                <a:solidFill>
                  <a:schemeClr val="tx2"/>
                </a:solidFill>
              </a:rPr>
              <a:t>Non – Invasive Blood Group Detection Using Fingerprints</a:t>
            </a:r>
            <a:endParaRPr lang="en-IN" dirty="0">
              <a:solidFill>
                <a:schemeClr val="tx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Title 1"/>
          <p:cNvSpPr txBox="1">
            <a:spLocks noGrp="1"/>
          </p:cNvSpPr>
          <p:nvPr>
            <p:ph type="title"/>
          </p:nvPr>
        </p:nvSpPr>
        <p:spPr>
          <a:xfrm>
            <a:off x="838200" y="299811"/>
            <a:ext cx="10515600" cy="1325563"/>
          </a:xfrm>
          <a:prstGeom prst="rect">
            <a:avLst/>
          </a:prstGeom>
        </p:spPr>
        <p:txBody>
          <a:bodyPr>
            <a:normAutofit/>
          </a:bodyPr>
          <a:lstStyle/>
          <a:p>
            <a:pPr marL="342900" indent="-342900">
              <a:defRPr sz="3200" b="1">
                <a:latin typeface="Times New Roman" panose="02020603050405020304"/>
                <a:ea typeface="Times New Roman" panose="02020603050405020304"/>
                <a:cs typeface="Times New Roman" panose="02020603050405020304"/>
                <a:sym typeface="Times New Roman" panose="02020603050405020304"/>
              </a:defRPr>
            </a:pPr>
            <a:r>
              <a:rPr sz="3600" dirty="0"/>
              <a:t>Vision </a:t>
            </a:r>
          </a:p>
        </p:txBody>
      </p:sp>
      <p:sp>
        <p:nvSpPr>
          <p:cNvPr id="99" name="Content Placeholder 2"/>
          <p:cNvSpPr txBox="1">
            <a:spLocks noGrp="1"/>
          </p:cNvSpPr>
          <p:nvPr>
            <p:ph idx="1"/>
          </p:nvPr>
        </p:nvSpPr>
        <p:spPr>
          <a:xfrm>
            <a:off x="838200" y="1329464"/>
            <a:ext cx="10515600" cy="4642454"/>
          </a:xfrm>
          <a:prstGeom prst="rect">
            <a:avLst/>
          </a:prstGeom>
        </p:spPr>
        <p:txBody>
          <a:bodyPr>
            <a:normAutofit fontScale="92500" lnSpcReduction="10000"/>
          </a:bodyPr>
          <a:lstStyle/>
          <a:p>
            <a:pPr marL="0" indent="0" algn="just">
              <a:buNone/>
              <a:defRPr sz="2600">
                <a:latin typeface="Times New Roman" panose="02020603050405020304"/>
                <a:ea typeface="Times New Roman" panose="02020603050405020304"/>
                <a:cs typeface="Times New Roman" panose="02020603050405020304"/>
                <a:sym typeface="Times New Roman" panose="02020603050405020304"/>
              </a:defRPr>
            </a:pPr>
            <a:r>
              <a:rPr lang="en-US" sz="2400" dirty="0">
                <a:latin typeface="Times New Roman" panose="02020603050405020304" pitchFamily="18" charset="0"/>
              </a:rPr>
              <a:t>To revolutionize blood group identification through non-invasive, making rapid and accessible diagnostics a reality for every individual,   everywhere. </a:t>
            </a:r>
          </a:p>
          <a:p>
            <a:pPr algn="just">
              <a:defRPr sz="2600">
                <a:latin typeface="Times New Roman" panose="02020603050405020304"/>
                <a:ea typeface="Times New Roman" panose="02020603050405020304"/>
                <a:cs typeface="Times New Roman" panose="02020603050405020304"/>
                <a:sym typeface="Times New Roman" panose="02020603050405020304"/>
              </a:defRPr>
            </a:pPr>
            <a:endParaRPr dirty="0"/>
          </a:p>
          <a:p>
            <a:pPr algn="just">
              <a:buSzTx/>
              <a:buNone/>
              <a:defRPr sz="3200" b="1">
                <a:latin typeface="Times New Roman" panose="02020603050405020304"/>
                <a:ea typeface="Times New Roman" panose="02020603050405020304"/>
                <a:cs typeface="Times New Roman" panose="02020603050405020304"/>
                <a:sym typeface="Times New Roman" panose="02020603050405020304"/>
              </a:defRPr>
            </a:pPr>
            <a:r>
              <a:rPr sz="3900" dirty="0"/>
              <a:t>Mission</a:t>
            </a:r>
            <a:r>
              <a:rPr dirty="0"/>
              <a:t> </a:t>
            </a:r>
          </a:p>
          <a:p>
            <a:pPr algn="just">
              <a:defRPr sz="2600">
                <a:latin typeface="Times New Roman" panose="02020603050405020304"/>
                <a:ea typeface="Times New Roman" panose="02020603050405020304"/>
                <a:cs typeface="Times New Roman" panose="02020603050405020304"/>
                <a:sym typeface="Times New Roman" panose="02020603050405020304"/>
              </a:defRPr>
            </a:pPr>
            <a:r>
              <a:rPr lang="en-US" altLang="en-US" sz="2400" dirty="0"/>
              <a:t>To revolutionize blood group identification by introducing a fast, non-invasive, and technology-driven solution using fingerprints.</a:t>
            </a:r>
          </a:p>
          <a:p>
            <a:pPr algn="just">
              <a:defRPr sz="2600">
                <a:latin typeface="Times New Roman" panose="02020603050405020304"/>
                <a:ea typeface="Times New Roman" panose="02020603050405020304"/>
                <a:cs typeface="Times New Roman" panose="02020603050405020304"/>
                <a:sym typeface="Times New Roman" panose="02020603050405020304"/>
              </a:defRPr>
            </a:pPr>
            <a:endParaRPr lang="en-US" altLang="en-US" sz="2400" dirty="0"/>
          </a:p>
          <a:p>
            <a:pPr algn="just">
              <a:defRPr sz="2600">
                <a:latin typeface="Times New Roman" panose="02020603050405020304"/>
                <a:ea typeface="Times New Roman" panose="02020603050405020304"/>
                <a:cs typeface="Times New Roman" panose="02020603050405020304"/>
                <a:sym typeface="Times New Roman" panose="02020603050405020304"/>
              </a:defRPr>
            </a:pPr>
            <a:r>
              <a:rPr lang="en-US" altLang="en-US" sz="2400" dirty="0"/>
              <a:t>To harness the power of deep learning to create an reliable system that simplifies and accelerates blood group detection.</a:t>
            </a:r>
          </a:p>
          <a:p>
            <a:pPr algn="just">
              <a:defRPr sz="2600">
                <a:latin typeface="Times New Roman" panose="02020603050405020304"/>
                <a:ea typeface="Times New Roman" panose="02020603050405020304"/>
                <a:cs typeface="Times New Roman" panose="02020603050405020304"/>
                <a:sym typeface="Times New Roman" panose="02020603050405020304"/>
              </a:defRPr>
            </a:pPr>
            <a:endParaRPr lang="en-US" altLang="en-US" sz="2400" dirty="0"/>
          </a:p>
          <a:p>
            <a:pPr algn="just">
              <a:defRPr sz="2600">
                <a:latin typeface="Times New Roman" panose="02020603050405020304"/>
                <a:ea typeface="Times New Roman" panose="02020603050405020304"/>
                <a:cs typeface="Times New Roman" panose="02020603050405020304"/>
                <a:sym typeface="Times New Roman" panose="02020603050405020304"/>
              </a:defRPr>
            </a:pPr>
            <a:r>
              <a:rPr lang="en-US" altLang="en-US" sz="2400" dirty="0"/>
              <a:t>To make healthcare more accessible by providing a low-cost and user-friendly alternative to traditional laboratory-based blood testing.</a:t>
            </a:r>
          </a:p>
        </p:txBody>
      </p:sp>
      <p:sp>
        <p:nvSpPr>
          <p:cNvPr id="2" name="Slide Number Placeholder 1"/>
          <p:cNvSpPr>
            <a:spLocks noGrp="1"/>
          </p:cNvSpPr>
          <p:nvPr>
            <p:ph type="sldNum" sz="quarter" idx="12"/>
          </p:nvPr>
        </p:nvSpPr>
        <p:spPr/>
        <p:txBody>
          <a:bodyPr/>
          <a:lstStyle/>
          <a:p>
            <a:fld id="{86CB4B4D-7CA3-9044-876B-883B54F8677D}" type="slidenum">
              <a:rPr lang="en-IN" smtClean="0"/>
              <a:t>4</a:t>
            </a:fld>
            <a:endParaRPr lang="en-IN"/>
          </a:p>
        </p:txBody>
      </p:sp>
      <p:sp>
        <p:nvSpPr>
          <p:cNvPr id="3" name="TextBox 2"/>
          <p:cNvSpPr txBox="1"/>
          <p:nvPr/>
        </p:nvSpPr>
        <p:spPr>
          <a:xfrm>
            <a:off x="3646932" y="16347"/>
            <a:ext cx="6784848"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r>
              <a:rPr lang="en-US" dirty="0">
                <a:solidFill>
                  <a:schemeClr val="tx2"/>
                </a:solidFill>
              </a:rPr>
              <a:t>Non – Invasive Blood Group Detection Using Fingerprints</a:t>
            </a:r>
            <a:endParaRPr kumimoji="0" lang="en-IN" sz="1800" b="0" i="0" u="none" strike="noStrike" cap="none" spc="0" normalizeH="0" baseline="0" dirty="0">
              <a:ln>
                <a:noFill/>
              </a:ln>
              <a:solidFill>
                <a:schemeClr val="tx2"/>
              </a:solidFill>
              <a:effectLst/>
              <a:uFillTx/>
              <a:latin typeface="+mj-lt"/>
              <a:ea typeface="+mj-ea"/>
              <a:cs typeface="+mj-cs"/>
              <a:sym typeface="Calibri" panose="020F05020202040302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Title 1"/>
          <p:cNvSpPr txBox="1">
            <a:spLocks noGrp="1"/>
          </p:cNvSpPr>
          <p:nvPr>
            <p:ph type="title"/>
          </p:nvPr>
        </p:nvSpPr>
        <p:spPr>
          <a:xfrm>
            <a:off x="838200" y="188777"/>
            <a:ext cx="10515600" cy="1325564"/>
          </a:xfrm>
          <a:prstGeom prst="rect">
            <a:avLst/>
          </a:prstGeom>
        </p:spPr>
        <p:txBody>
          <a:bodyPr>
            <a:normAutofit/>
          </a:bodyPr>
          <a:lstStyle>
            <a:lvl1pPr>
              <a:defRPr b="1">
                <a:latin typeface="Times New Roman" panose="02020603050405020304"/>
                <a:ea typeface="Times New Roman" panose="02020603050405020304"/>
                <a:cs typeface="Times New Roman" panose="02020603050405020304"/>
                <a:sym typeface="Times New Roman" panose="02020603050405020304"/>
              </a:defRPr>
            </a:lvl1pPr>
          </a:lstStyle>
          <a:p>
            <a:r>
              <a:rPr sz="3600" dirty="0"/>
              <a:t>Objectives</a:t>
            </a:r>
          </a:p>
        </p:txBody>
      </p:sp>
      <p:sp>
        <p:nvSpPr>
          <p:cNvPr id="105" name="Content Placeholder 2"/>
          <p:cNvSpPr txBox="1">
            <a:spLocks noGrp="1"/>
          </p:cNvSpPr>
          <p:nvPr>
            <p:ph idx="1"/>
          </p:nvPr>
        </p:nvSpPr>
        <p:spPr>
          <a:xfrm>
            <a:off x="838200" y="1194936"/>
            <a:ext cx="10515600" cy="4351339"/>
          </a:xfrm>
          <a:prstGeom prst="rect">
            <a:avLst/>
          </a:prstGeom>
        </p:spPr>
        <p:txBody>
          <a:bodyPr>
            <a:noAutofit/>
          </a:bodyPr>
          <a:lstStyle/>
          <a:p>
            <a:pPr algn="just">
              <a:lnSpc>
                <a:spcPct val="150000"/>
              </a:lnSpc>
            </a:pPr>
            <a:r>
              <a:rPr lang="en-US" altLang="en-US" sz="2200" dirty="0">
                <a:latin typeface="Times New Roman" panose="02020603050405020304" pitchFamily="18" charset="0"/>
                <a:cs typeface="Times New Roman" panose="02020603050405020304" pitchFamily="18" charset="0"/>
              </a:rPr>
              <a:t>To design a non-invasive system that predicts an individual’s blood group using fingerprint images instead of traditional blood samples.</a:t>
            </a:r>
          </a:p>
          <a:p>
            <a:pPr algn="just">
              <a:lnSpc>
                <a:spcPct val="150000"/>
              </a:lnSpc>
            </a:pPr>
            <a:r>
              <a:rPr lang="en-US" altLang="en-US" sz="2200" dirty="0">
                <a:latin typeface="Times New Roman" panose="02020603050405020304" pitchFamily="18" charset="0"/>
                <a:cs typeface="Times New Roman" panose="02020603050405020304" pitchFamily="18" charset="0"/>
              </a:rPr>
              <a:t>To apply advanced CNN architectures like ResNet for extracting deep fingerprint features and performing blood group classification.</a:t>
            </a:r>
          </a:p>
          <a:p>
            <a:pPr algn="just">
              <a:lnSpc>
                <a:spcPct val="150000"/>
              </a:lnSpc>
            </a:pPr>
            <a:r>
              <a:rPr lang="en-US" altLang="en-US" sz="2200" dirty="0">
                <a:latin typeface="Times New Roman" panose="02020603050405020304" pitchFamily="18" charset="0"/>
                <a:cs typeface="Times New Roman" panose="02020603050405020304" pitchFamily="18" charset="0"/>
              </a:rPr>
              <a:t>To provide a fast, painless, and user-friendly alternative to conventional blood testing methods.</a:t>
            </a:r>
          </a:p>
          <a:p>
            <a:pPr algn="just">
              <a:lnSpc>
                <a:spcPct val="150000"/>
              </a:lnSpc>
            </a:pPr>
            <a:r>
              <a:rPr lang="en-US" altLang="en-US" sz="2200" dirty="0">
                <a:latin typeface="Times New Roman" panose="02020603050405020304" pitchFamily="18" charset="0"/>
                <a:cs typeface="Times New Roman" panose="02020603050405020304" pitchFamily="18" charset="0"/>
              </a:rPr>
              <a:t>To enhance accessibility and efficiency in healthcare by offering a low-cost, quick, and reliable method for blood group identification.</a:t>
            </a:r>
          </a:p>
        </p:txBody>
      </p:sp>
      <p:sp>
        <p:nvSpPr>
          <p:cNvPr id="2" name="Slide Number Placeholder 1"/>
          <p:cNvSpPr>
            <a:spLocks noGrp="1"/>
          </p:cNvSpPr>
          <p:nvPr>
            <p:ph type="sldNum" sz="quarter" idx="12"/>
          </p:nvPr>
        </p:nvSpPr>
        <p:spPr/>
        <p:txBody>
          <a:bodyPr/>
          <a:lstStyle/>
          <a:p>
            <a:fld id="{86CB4B4D-7CA3-9044-876B-883B54F8677D}" type="slidenum">
              <a:rPr lang="en-IN" smtClean="0"/>
              <a:t>5</a:t>
            </a:fld>
            <a:endParaRPr lang="en-IN"/>
          </a:p>
        </p:txBody>
      </p:sp>
      <p:sp>
        <p:nvSpPr>
          <p:cNvPr id="3" name="TextBox 2"/>
          <p:cNvSpPr txBox="1"/>
          <p:nvPr/>
        </p:nvSpPr>
        <p:spPr>
          <a:xfrm>
            <a:off x="3646932" y="16347"/>
            <a:ext cx="6784848"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r>
              <a:rPr lang="en-US" dirty="0">
                <a:solidFill>
                  <a:schemeClr val="tx2"/>
                </a:solidFill>
              </a:rPr>
              <a:t>Non – Invasive Blood Group Detection Using Fingerprints</a:t>
            </a:r>
            <a:endParaRPr lang="en-IN" dirty="0">
              <a:solidFill>
                <a:schemeClr val="tx2"/>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Title 1"/>
          <p:cNvSpPr txBox="1">
            <a:spLocks noGrp="1"/>
          </p:cNvSpPr>
          <p:nvPr>
            <p:ph type="title"/>
          </p:nvPr>
        </p:nvSpPr>
        <p:spPr>
          <a:xfrm>
            <a:off x="621951" y="139580"/>
            <a:ext cx="10515600" cy="1325563"/>
          </a:xfrm>
          <a:prstGeom prst="rect">
            <a:avLst/>
          </a:prstGeom>
        </p:spPr>
        <p:txBody>
          <a:bodyPr>
            <a:normAutofit/>
          </a:bodyPr>
          <a:lstStyle>
            <a:lvl1pPr>
              <a:defRPr b="1">
                <a:latin typeface="Times New Roman" panose="02020603050405020304"/>
                <a:ea typeface="Times New Roman" panose="02020603050405020304"/>
                <a:cs typeface="Times New Roman" panose="02020603050405020304"/>
                <a:sym typeface="Times New Roman" panose="02020603050405020304"/>
              </a:defRPr>
            </a:lvl1pPr>
          </a:lstStyle>
          <a:p>
            <a:pPr algn="ctr"/>
            <a:br>
              <a:rPr lang="en-US" sz="3600" dirty="0"/>
            </a:br>
            <a:r>
              <a:rPr sz="3600" dirty="0"/>
              <a:t>Problem Statement</a:t>
            </a:r>
          </a:p>
        </p:txBody>
      </p:sp>
      <p:sp>
        <p:nvSpPr>
          <p:cNvPr id="102" name="Content Placeholder 2"/>
          <p:cNvSpPr txBox="1">
            <a:spLocks noGrp="1"/>
          </p:cNvSpPr>
          <p:nvPr>
            <p:ph idx="1"/>
          </p:nvPr>
        </p:nvSpPr>
        <p:spPr>
          <a:xfrm>
            <a:off x="730075" y="1465143"/>
            <a:ext cx="10731849" cy="4785295"/>
          </a:xfrm>
          <a:prstGeom prst="rect">
            <a:avLst/>
          </a:prstGeom>
        </p:spPr>
        <p:txBody>
          <a:bodyPr>
            <a:normAutofit/>
          </a:bodyPr>
          <a:lstStyle/>
          <a:p>
            <a:pPr marL="0" indent="0" algn="ctr" eaLnBrk="0" fontAlgn="base" hangingPunct="0">
              <a:lnSpc>
                <a:spcPct val="100000"/>
              </a:lnSpc>
              <a:spcBef>
                <a:spcPct val="0"/>
              </a:spcBef>
              <a:spcAft>
                <a:spcPct val="0"/>
              </a:spcAft>
              <a:buNone/>
            </a:pPr>
            <a:endParaRPr lang="en-US" sz="2200" dirty="0">
              <a:latin typeface="Times New Roman" panose="02020603050405020304" pitchFamily="18" charset="0"/>
              <a:cs typeface="Times New Roman" panose="02020603050405020304" pitchFamily="18" charset="0"/>
            </a:endParaRPr>
          </a:p>
          <a:p>
            <a:pPr marL="0" indent="0" algn="ctr" eaLnBrk="0" fontAlgn="base" hangingPunct="0">
              <a:lnSpc>
                <a:spcPct val="100000"/>
              </a:lnSpc>
              <a:spcBef>
                <a:spcPct val="0"/>
              </a:spcBef>
              <a:spcAft>
                <a:spcPct val="0"/>
              </a:spcAft>
              <a:buNone/>
            </a:pPr>
            <a:endParaRPr lang="en-US" sz="2200" dirty="0">
              <a:latin typeface="Times New Roman" panose="02020603050405020304" pitchFamily="18" charset="0"/>
              <a:cs typeface="Times New Roman" panose="02020603050405020304" pitchFamily="18" charset="0"/>
            </a:endParaRPr>
          </a:p>
          <a:p>
            <a:pPr marL="0" indent="0" algn="ctr" eaLnBrk="0" fontAlgn="base" hangingPunct="0">
              <a:lnSpc>
                <a:spcPct val="100000"/>
              </a:lnSpc>
              <a:spcBef>
                <a:spcPct val="0"/>
              </a:spcBef>
              <a:spcAft>
                <a:spcPct val="0"/>
              </a:spcAft>
              <a:buNone/>
            </a:pPr>
            <a:r>
              <a:rPr lang="en-US" sz="2200" dirty="0">
                <a:latin typeface="Times New Roman" panose="02020603050405020304" pitchFamily="18" charset="0"/>
                <a:cs typeface="Times New Roman" panose="02020603050405020304" pitchFamily="18" charset="0"/>
              </a:rPr>
              <a:t>To design and develop a non-invasive, fast blood group identification system using fingerprint images and a deep learning strategy</a:t>
            </a:r>
            <a:r>
              <a:rPr lang="en-US" sz="2200" dirty="0"/>
              <a:t>.</a:t>
            </a:r>
            <a:endParaRPr lang="en-IN" sz="2200" dirty="0"/>
          </a:p>
          <a:p>
            <a:pPr marL="0" indent="0" algn="just" eaLnBrk="0" fontAlgn="base" hangingPunct="0">
              <a:lnSpc>
                <a:spcPct val="100000"/>
              </a:lnSpc>
              <a:spcBef>
                <a:spcPct val="0"/>
              </a:spcBef>
              <a:spcAft>
                <a:spcPct val="0"/>
              </a:spcAft>
              <a:buNone/>
            </a:pPr>
            <a:endParaRPr lang="en-IN" dirty="0"/>
          </a:p>
        </p:txBody>
      </p:sp>
      <p:sp>
        <p:nvSpPr>
          <p:cNvPr id="2" name="Slide Number Placeholder 1"/>
          <p:cNvSpPr>
            <a:spLocks noGrp="1"/>
          </p:cNvSpPr>
          <p:nvPr>
            <p:ph type="sldNum" sz="quarter" idx="12"/>
          </p:nvPr>
        </p:nvSpPr>
        <p:spPr/>
        <p:txBody>
          <a:bodyPr/>
          <a:lstStyle/>
          <a:p>
            <a:fld id="{86CB4B4D-7CA3-9044-876B-883B54F8677D}" type="slidenum">
              <a:rPr lang="en-IN" smtClean="0"/>
              <a:t>6</a:t>
            </a:fld>
            <a:endParaRPr lang="en-IN"/>
          </a:p>
        </p:txBody>
      </p:sp>
      <p:sp>
        <p:nvSpPr>
          <p:cNvPr id="3" name="TextBox 2"/>
          <p:cNvSpPr txBox="1"/>
          <p:nvPr/>
        </p:nvSpPr>
        <p:spPr>
          <a:xfrm>
            <a:off x="3646932" y="16347"/>
            <a:ext cx="6784848"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r>
              <a:rPr lang="en-US" dirty="0">
                <a:solidFill>
                  <a:schemeClr val="tx2"/>
                </a:solidFill>
              </a:rPr>
              <a:t>Non – Invasive Blood Group Detection Using Fingerprints</a:t>
            </a:r>
            <a:endParaRPr lang="en-IN" dirty="0">
              <a:solidFill>
                <a:schemeClr val="tx2"/>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latin typeface="Times New Roman" panose="02020603050405020304" pitchFamily="18" charset="0"/>
                <a:cs typeface="Times New Roman" panose="02020603050405020304" pitchFamily="18" charset="0"/>
              </a:rPr>
              <a:t>Introduction</a:t>
            </a:r>
            <a:endParaRPr lang="en-IN" sz="3600" b="1"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idx="1"/>
          </p:nvPr>
        </p:nvSpPr>
        <p:spPr>
          <a:xfrm>
            <a:off x="901065" y="1522730"/>
            <a:ext cx="10515600" cy="4351338"/>
          </a:xfrm>
        </p:spPr>
        <p:txBody>
          <a:bodyPr>
            <a:normAutofit fontScale="92500"/>
          </a:bodyPr>
          <a:lstStyle/>
          <a:p>
            <a:pPr marL="0" indent="0" algn="just">
              <a:lnSpc>
                <a:spcPct val="150000"/>
              </a:lnSpc>
              <a:buNone/>
            </a:pPr>
            <a:r>
              <a:rPr lang="en-US" sz="2400" dirty="0">
                <a:latin typeface="Times New Roman" panose="02020603050405020304" pitchFamily="18" charset="0"/>
                <a:cs typeface="Times New Roman" panose="02020603050405020304" pitchFamily="18" charset="0"/>
              </a:rPr>
              <a:t>The project “Non-Invasive Blood Group Detection Using Fingerprints” aims to provide a fast, safe, and user-friendly alternative to traditional blood typing methods. Conventional approaches require collecting blood samples and performing laboratory tests, which can be time-consuming, invasive, and impractical during emergencies. This project addresses these challenges by using fingerprint images and deep learning techniques to predict a person’s blood group. By leveraging biometric patterns and advanced CNN models, the system offers a reliable solution that enhances accessibility, reduces dependency on laboratory setups, and supports rapid medical decision-making.</a:t>
            </a:r>
            <a:endParaRPr lang="en-IN"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86CB4B4D-7CA3-9044-876B-883B54F8677D}" type="slidenum">
              <a:rPr lang="en-IN" smtClean="0"/>
              <a:t>7</a:t>
            </a:fld>
            <a:endParaRPr lang="en-I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 name="Title 1"/>
          <p:cNvSpPr txBox="1">
            <a:spLocks noGrp="1"/>
          </p:cNvSpPr>
          <p:nvPr>
            <p:ph type="title"/>
          </p:nvPr>
        </p:nvSpPr>
        <p:spPr>
          <a:xfrm>
            <a:off x="935914" y="268165"/>
            <a:ext cx="10417886" cy="1422523"/>
          </a:xfrm>
          <a:prstGeom prst="rect">
            <a:avLst/>
          </a:prstGeom>
        </p:spPr>
        <p:txBody>
          <a:bodyPr anchor="t"/>
          <a:lstStyle>
            <a:lvl1pPr>
              <a:defRPr>
                <a:latin typeface="Times New Roman" panose="02020603050405020304"/>
                <a:ea typeface="Times New Roman" panose="02020603050405020304"/>
                <a:cs typeface="Times New Roman" panose="02020603050405020304"/>
                <a:sym typeface="Times New Roman" panose="02020603050405020304"/>
              </a:defRPr>
            </a:lvl1pPr>
          </a:lstStyle>
          <a:p>
            <a:r>
              <a:t>Literature Review</a:t>
            </a:r>
          </a:p>
        </p:txBody>
      </p:sp>
      <p:sp>
        <p:nvSpPr>
          <p:cNvPr id="2" name="Slide Number Placeholder 1"/>
          <p:cNvSpPr>
            <a:spLocks noGrp="1"/>
          </p:cNvSpPr>
          <p:nvPr>
            <p:ph type="sldNum" sz="quarter" idx="12"/>
          </p:nvPr>
        </p:nvSpPr>
        <p:spPr/>
        <p:txBody>
          <a:bodyPr/>
          <a:lstStyle/>
          <a:p>
            <a:fld id="{86CB4B4D-7CA3-9044-876B-883B54F8677D}" type="slidenum">
              <a:rPr lang="en-IN" smtClean="0"/>
              <a:t>8</a:t>
            </a:fld>
            <a:endParaRPr lang="en-IN"/>
          </a:p>
        </p:txBody>
      </p:sp>
      <p:sp>
        <p:nvSpPr>
          <p:cNvPr id="3" name="TextBox 2"/>
          <p:cNvSpPr txBox="1"/>
          <p:nvPr/>
        </p:nvSpPr>
        <p:spPr>
          <a:xfrm>
            <a:off x="3646932" y="16347"/>
            <a:ext cx="6784848"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r>
              <a:rPr lang="en-US" dirty="0">
                <a:solidFill>
                  <a:schemeClr val="tx2"/>
                </a:solidFill>
              </a:rPr>
              <a:t>Non – Invasive Blood Group Detection Using Fingerprints</a:t>
            </a:r>
            <a:endParaRPr lang="en-IN" dirty="0">
              <a:solidFill>
                <a:schemeClr val="tx2"/>
              </a:solidFill>
            </a:endParaRPr>
          </a:p>
        </p:txBody>
      </p:sp>
      <p:pic>
        <p:nvPicPr>
          <p:cNvPr id="4" name="table"/>
          <p:cNvPicPr>
            <a:picLocks noChangeAspect="1"/>
          </p:cNvPicPr>
          <p:nvPr/>
        </p:nvPicPr>
        <p:blipFill>
          <a:blip r:embed="rId2"/>
          <a:stretch>
            <a:fillRect/>
          </a:stretch>
        </p:blipFill>
        <p:spPr>
          <a:xfrm>
            <a:off x="402251" y="970961"/>
            <a:ext cx="11387499" cy="576660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86CB4B4D-7CA3-9044-876B-883B54F8677D}" type="slidenum">
              <a:rPr lang="en-IN" smtClean="0"/>
              <a:t>9</a:t>
            </a:fld>
            <a:endParaRPr lang="en-IN"/>
          </a:p>
        </p:txBody>
      </p:sp>
      <p:sp>
        <p:nvSpPr>
          <p:cNvPr id="3" name="TextBox 2"/>
          <p:cNvSpPr txBox="1"/>
          <p:nvPr/>
        </p:nvSpPr>
        <p:spPr>
          <a:xfrm>
            <a:off x="3646932" y="16347"/>
            <a:ext cx="6784848"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r>
              <a:rPr lang="en-US" dirty="0">
                <a:solidFill>
                  <a:schemeClr val="tx2"/>
                </a:solidFill>
              </a:rPr>
              <a:t>Non – Invasive Blood Group Detection Using Fingerprints</a:t>
            </a:r>
            <a:endParaRPr lang="en-IN" dirty="0">
              <a:solidFill>
                <a:schemeClr val="tx2"/>
              </a:solidFill>
            </a:endParaRPr>
          </a:p>
        </p:txBody>
      </p:sp>
      <p:pic>
        <p:nvPicPr>
          <p:cNvPr id="4" name="table"/>
          <p:cNvPicPr>
            <a:picLocks noChangeAspect="1"/>
          </p:cNvPicPr>
          <p:nvPr/>
        </p:nvPicPr>
        <p:blipFill>
          <a:blip r:embed="rId2"/>
          <a:stretch>
            <a:fillRect/>
          </a:stretch>
        </p:blipFill>
        <p:spPr>
          <a:xfrm>
            <a:off x="509270" y="17145"/>
            <a:ext cx="11174095" cy="684085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rot="10800000" flipV="1">
            <a:off x="883578" y="328772"/>
            <a:ext cx="10470222" cy="739739"/>
          </a:xfrm>
        </p:spPr>
        <p:txBody>
          <a:bodyPr>
            <a:normAutofit/>
          </a:bodyPr>
          <a:lstStyle/>
          <a:p>
            <a:r>
              <a:rPr lang="en-IN" sz="3600" b="1" dirty="0">
                <a:latin typeface="Times New Roman" panose="02020603050405020304" pitchFamily="18" charset="0"/>
                <a:cs typeface="Times New Roman" panose="02020603050405020304" pitchFamily="18" charset="0"/>
              </a:rPr>
              <a:t>Existing System vs Proposed System</a:t>
            </a:r>
          </a:p>
        </p:txBody>
      </p:sp>
      <p:sp>
        <p:nvSpPr>
          <p:cNvPr id="4" name="Slide Number Placeholder 3"/>
          <p:cNvSpPr>
            <a:spLocks noGrp="1"/>
          </p:cNvSpPr>
          <p:nvPr>
            <p:ph type="sldNum" sz="quarter" idx="12"/>
          </p:nvPr>
        </p:nvSpPr>
        <p:spPr/>
        <p:txBody>
          <a:bodyPr/>
          <a:lstStyle/>
          <a:p>
            <a:fld id="{86CB4B4D-7CA3-9044-876B-883B54F8677D}" type="slidenum">
              <a:rPr lang="en-IN" smtClean="0"/>
              <a:t>10</a:t>
            </a:fld>
            <a:endParaRPr lang="en-IN"/>
          </a:p>
        </p:txBody>
      </p:sp>
      <p:graphicFrame>
        <p:nvGraphicFramePr>
          <p:cNvPr id="6" name="Table 5"/>
          <p:cNvGraphicFramePr>
            <a:graphicFrameLocks noGrp="1"/>
          </p:cNvGraphicFramePr>
          <p:nvPr>
            <p:extLst>
              <p:ext uri="{D42A27DB-BD31-4B8C-83A1-F6EECF244321}">
                <p14:modId xmlns:p14="http://schemas.microsoft.com/office/powerpoint/2010/main" val="3616075351"/>
              </p:ext>
            </p:extLst>
          </p:nvPr>
        </p:nvGraphicFramePr>
        <p:xfrm>
          <a:off x="363021" y="1314757"/>
          <a:ext cx="11465958" cy="4927772"/>
        </p:xfrm>
        <a:graphic>
          <a:graphicData uri="http://schemas.openxmlformats.org/drawingml/2006/table">
            <a:tbl>
              <a:tblPr firstRow="1" bandRow="1">
                <a:tableStyleId>{5940675A-B579-460E-94D1-54222C63F5DA}</a:tableStyleId>
              </a:tblPr>
              <a:tblGrid>
                <a:gridCol w="2595936">
                  <a:extLst>
                    <a:ext uri="{9D8B030D-6E8A-4147-A177-3AD203B41FA5}">
                      <a16:colId xmlns:a16="http://schemas.microsoft.com/office/drawing/2014/main" val="20000"/>
                    </a:ext>
                  </a:extLst>
                </a:gridCol>
                <a:gridCol w="4109663">
                  <a:extLst>
                    <a:ext uri="{9D8B030D-6E8A-4147-A177-3AD203B41FA5}">
                      <a16:colId xmlns:a16="http://schemas.microsoft.com/office/drawing/2014/main" val="20001"/>
                    </a:ext>
                  </a:extLst>
                </a:gridCol>
                <a:gridCol w="4760359">
                  <a:extLst>
                    <a:ext uri="{9D8B030D-6E8A-4147-A177-3AD203B41FA5}">
                      <a16:colId xmlns:a16="http://schemas.microsoft.com/office/drawing/2014/main" val="20002"/>
                    </a:ext>
                  </a:extLst>
                </a:gridCol>
              </a:tblGrid>
              <a:tr h="682750">
                <a:tc>
                  <a:txBody>
                    <a:bodyPr/>
                    <a:lstStyle/>
                    <a:p>
                      <a:pPr algn="l"/>
                      <a:r>
                        <a:rPr lang="en-IN" sz="3200" b="1" dirty="0"/>
                        <a:t>Aspect</a:t>
                      </a:r>
                      <a:endParaRPr lang="en-IN" sz="3200" b="1" i="0" u="none" dirty="0">
                        <a:latin typeface="Times New Roman" panose="02020603050405020304" pitchFamily="18" charset="0"/>
                        <a:cs typeface="Times New Roman" panose="02020603050405020304" pitchFamily="18" charset="0"/>
                      </a:endParaRPr>
                    </a:p>
                  </a:txBody>
                  <a:tcPr/>
                </a:tc>
                <a:tc>
                  <a:txBody>
                    <a:bodyPr/>
                    <a:lstStyle/>
                    <a:p>
                      <a:pPr algn="l"/>
                      <a:r>
                        <a:rPr lang="en-US" sz="3200" b="1" dirty="0">
                          <a:latin typeface="Times New Roman" panose="02020603050405020304" pitchFamily="18" charset="0"/>
                          <a:cs typeface="Times New Roman" panose="02020603050405020304" pitchFamily="18" charset="0"/>
                        </a:rPr>
                        <a:t>Existing System</a:t>
                      </a:r>
                      <a:endParaRPr lang="en-IN" sz="3200" b="1" dirty="0">
                        <a:latin typeface="Times New Roman" panose="02020603050405020304" pitchFamily="18" charset="0"/>
                        <a:cs typeface="Times New Roman" panose="02020603050405020304" pitchFamily="18" charset="0"/>
                      </a:endParaRPr>
                    </a:p>
                  </a:txBody>
                  <a:tcPr/>
                </a:tc>
                <a:tc>
                  <a:txBody>
                    <a:bodyPr/>
                    <a:lstStyle/>
                    <a:p>
                      <a:pPr algn="l"/>
                      <a:r>
                        <a:rPr lang="en-US" sz="3200" b="1" dirty="0">
                          <a:latin typeface="Times New Roman" panose="02020603050405020304" pitchFamily="18" charset="0"/>
                          <a:cs typeface="Times New Roman" panose="02020603050405020304" pitchFamily="18" charset="0"/>
                        </a:rPr>
                        <a:t>Proposed system</a:t>
                      </a:r>
                      <a:endParaRPr lang="en-IN" sz="32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0"/>
                  </a:ext>
                </a:extLst>
              </a:tr>
              <a:tr h="702482">
                <a:tc>
                  <a:txBody>
                    <a:bodyPr/>
                    <a:lstStyle/>
                    <a:p>
                      <a:pPr marL="0" indent="0" algn="l">
                        <a:buFont typeface="Arial" panose="020B0604020202020204" pitchFamily="34" charset="0"/>
                        <a:buNone/>
                      </a:pPr>
                      <a:r>
                        <a:rPr lang="en-IN" sz="2000" dirty="0"/>
                        <a:t>Input Data</a:t>
                      </a:r>
                      <a:endParaRPr lang="en-IN" sz="2000" dirty="0">
                        <a:latin typeface="Times New Roman" panose="02020603050405020304" pitchFamily="18" charset="0"/>
                        <a:cs typeface="Times New Roman" panose="02020603050405020304" pitchFamily="18" charset="0"/>
                      </a:endParaRPr>
                    </a:p>
                  </a:txBody>
                  <a:tcPr/>
                </a:tc>
                <a:tc>
                  <a:txBody>
                    <a:bodyPr/>
                    <a:lstStyle/>
                    <a:p>
                      <a:pPr algn="l"/>
                      <a:r>
                        <a:rPr lang="en-US" sz="2000" dirty="0"/>
                        <a:t>Uses multiple inputs like fingerprints with blood smear or blood images</a:t>
                      </a:r>
                      <a:r>
                        <a:rPr lang="en-IN" sz="2000" dirty="0">
                          <a:latin typeface="Times New Roman" panose="02020603050405020304" pitchFamily="18" charset="0"/>
                          <a:cs typeface="Times New Roman" panose="02020603050405020304" pitchFamily="18" charset="0"/>
                        </a:rPr>
                        <a:t>.</a:t>
                      </a:r>
                    </a:p>
                  </a:txBody>
                  <a:tcPr/>
                </a:tc>
                <a:tc>
                  <a:txBody>
                    <a:bodyPr/>
                    <a:lstStyle/>
                    <a:p>
                      <a:pPr algn="l"/>
                      <a:r>
                        <a:rPr lang="en-IN" sz="2000" dirty="0"/>
                        <a:t>Uses only fingerprint images</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r h="694589">
                <a:tc>
                  <a:txBody>
                    <a:bodyPr/>
                    <a:lstStyle/>
                    <a:p>
                      <a:pPr algn="l"/>
                      <a:r>
                        <a:rPr lang="en-IN" sz="2000" dirty="0"/>
                        <a:t>Invasiveness</a:t>
                      </a:r>
                      <a:endParaRPr lang="en-IN" sz="2000" dirty="0">
                        <a:latin typeface="Times New Roman" panose="02020603050405020304" pitchFamily="18" charset="0"/>
                        <a:cs typeface="Times New Roman" panose="02020603050405020304" pitchFamily="18" charset="0"/>
                      </a:endParaRPr>
                    </a:p>
                  </a:txBody>
                  <a:tcPr/>
                </a:tc>
                <a:tc>
                  <a:txBody>
                    <a:bodyPr/>
                    <a:lstStyle/>
                    <a:p>
                      <a:pPr algn="l"/>
                      <a:r>
                        <a:rPr lang="en-IN" sz="2000" dirty="0"/>
                        <a:t>Partially invasive</a:t>
                      </a:r>
                      <a:endParaRPr lang="en-IN" sz="2000" dirty="0">
                        <a:latin typeface="Times New Roman" panose="02020603050405020304" pitchFamily="18" charset="0"/>
                        <a:cs typeface="Times New Roman" panose="02020603050405020304" pitchFamily="18" charset="0"/>
                      </a:endParaRPr>
                    </a:p>
                  </a:txBody>
                  <a:tcPr/>
                </a:tc>
                <a:tc>
                  <a:txBody>
                    <a:bodyPr/>
                    <a:lstStyle/>
                    <a:p>
                      <a:pPr algn="l"/>
                      <a:r>
                        <a:rPr lang="en-IN" sz="2000" dirty="0"/>
                        <a:t>Fully non-invasive</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2"/>
                  </a:ext>
                </a:extLst>
              </a:tr>
              <a:tr h="694589">
                <a:tc>
                  <a:txBody>
                    <a:bodyPr/>
                    <a:lstStyle/>
                    <a:p>
                      <a:pPr algn="l"/>
                      <a:r>
                        <a:rPr lang="en-IN" sz="2000" dirty="0"/>
                        <a:t>Model Type</a:t>
                      </a:r>
                      <a:endParaRPr lang="en-IN" sz="2000" dirty="0">
                        <a:latin typeface="Times New Roman" panose="02020603050405020304" pitchFamily="18" charset="0"/>
                        <a:cs typeface="Times New Roman" panose="02020603050405020304" pitchFamily="18" charset="0"/>
                      </a:endParaRPr>
                    </a:p>
                  </a:txBody>
                  <a:tcPr/>
                </a:tc>
                <a:tc>
                  <a:txBody>
                    <a:bodyPr/>
                    <a:lstStyle/>
                    <a:p>
                      <a:pPr algn="l">
                        <a:buNone/>
                      </a:pPr>
                      <a:r>
                        <a:rPr lang="en-IN" sz="2000" dirty="0"/>
                        <a:t>Conventional CNNs, ML, or hybrid models</a:t>
                      </a:r>
                      <a:endParaRPr lang="en-IN" sz="2000" dirty="0">
                        <a:latin typeface="Times New Roman" panose="02020603050405020304" pitchFamily="18" charset="0"/>
                        <a:cs typeface="Times New Roman" panose="02020603050405020304" pitchFamily="18" charset="0"/>
                      </a:endParaRPr>
                    </a:p>
                  </a:txBody>
                  <a:tcPr anchor="ctr"/>
                </a:tc>
                <a:tc>
                  <a:txBody>
                    <a:bodyPr/>
                    <a:lstStyle/>
                    <a:p>
                      <a:pPr algn="l">
                        <a:buNone/>
                      </a:pPr>
                      <a:r>
                        <a:rPr lang="en-US" sz="2000" dirty="0"/>
                        <a:t>Advanced CNN based on </a:t>
                      </a:r>
                      <a:r>
                        <a:rPr lang="en-US" sz="2000" dirty="0" err="1"/>
                        <a:t>ResNet</a:t>
                      </a:r>
                      <a:endParaRPr lang="en-IN" sz="20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3"/>
                  </a:ext>
                </a:extLst>
              </a:tr>
              <a:tr h="741946">
                <a:tc>
                  <a:txBody>
                    <a:bodyPr/>
                    <a:lstStyle/>
                    <a:p>
                      <a:pPr algn="l"/>
                      <a:r>
                        <a:rPr lang="en-IN" sz="2000" dirty="0"/>
                        <a:t>Scalability</a:t>
                      </a:r>
                      <a:endParaRPr lang="en-IN" sz="2000" dirty="0">
                        <a:latin typeface="Times New Roman" panose="02020603050405020304" pitchFamily="18" charset="0"/>
                        <a:cs typeface="Times New Roman" panose="02020603050405020304" pitchFamily="18" charset="0"/>
                      </a:endParaRPr>
                    </a:p>
                  </a:txBody>
                  <a:tcPr/>
                </a:tc>
                <a:tc>
                  <a:txBody>
                    <a:bodyPr/>
                    <a:lstStyle/>
                    <a:p>
                      <a:pPr algn="l">
                        <a:buNone/>
                      </a:pPr>
                      <a:r>
                        <a:rPr lang="en-IN" sz="2000" dirty="0"/>
                        <a:t>Limited scalability</a:t>
                      </a:r>
                      <a:endParaRPr lang="en-IN" sz="2000" dirty="0">
                        <a:latin typeface="Times New Roman" panose="02020603050405020304" pitchFamily="18" charset="0"/>
                        <a:cs typeface="Times New Roman" panose="02020603050405020304" pitchFamily="18" charset="0"/>
                      </a:endParaRPr>
                    </a:p>
                  </a:txBody>
                  <a:tcPr anchor="ctr"/>
                </a:tc>
                <a:tc>
                  <a:txBody>
                    <a:bodyPr/>
                    <a:lstStyle/>
                    <a:p>
                      <a:pPr algn="l"/>
                      <a:r>
                        <a:rPr lang="en-IN" sz="2000" dirty="0"/>
                        <a:t>Designed for better scalability</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4"/>
                  </a:ext>
                </a:extLst>
              </a:tr>
              <a:tr h="710376">
                <a:tc>
                  <a:txBody>
                    <a:bodyPr/>
                    <a:lstStyle/>
                    <a:p>
                      <a:pPr algn="l"/>
                      <a:r>
                        <a:rPr lang="en-IN" sz="2000" dirty="0"/>
                        <a:t>Preprocessing</a:t>
                      </a:r>
                      <a:endParaRPr lang="en-IN" sz="2000" dirty="0">
                        <a:latin typeface="Times New Roman" panose="02020603050405020304" pitchFamily="18" charset="0"/>
                        <a:cs typeface="Times New Roman" panose="02020603050405020304" pitchFamily="18" charset="0"/>
                      </a:endParaRPr>
                    </a:p>
                  </a:txBody>
                  <a:tcPr/>
                </a:tc>
                <a:tc>
                  <a:txBody>
                    <a:bodyPr/>
                    <a:lstStyle/>
                    <a:p>
                      <a:pPr algn="l"/>
                      <a:r>
                        <a:rPr lang="en-IN" sz="2000" dirty="0"/>
                        <a:t>Basic preprocessing techniques</a:t>
                      </a:r>
                      <a:endParaRPr lang="en-IN" sz="2000" dirty="0">
                        <a:latin typeface="Times New Roman" panose="02020603050405020304" pitchFamily="18" charset="0"/>
                        <a:cs typeface="Times New Roman" panose="02020603050405020304" pitchFamily="18" charset="0"/>
                      </a:endParaRPr>
                    </a:p>
                  </a:txBody>
                  <a:tcPr/>
                </a:tc>
                <a:tc>
                  <a:txBody>
                    <a:bodyPr/>
                    <a:lstStyle/>
                    <a:p>
                      <a:pPr algn="l"/>
                      <a:r>
                        <a:rPr lang="en-US" sz="2000" dirty="0"/>
                        <a:t>Enhanced preprocessing for better ridge clarity</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5"/>
                  </a:ext>
                </a:extLst>
              </a:tr>
              <a:tr h="694589">
                <a:tc>
                  <a:txBody>
                    <a:bodyPr/>
                    <a:lstStyle/>
                    <a:p>
                      <a:pPr algn="l"/>
                      <a:r>
                        <a:rPr lang="en-US" sz="2000" dirty="0">
                          <a:latin typeface="Times New Roman" panose="02020603050405020304" pitchFamily="18" charset="0"/>
                          <a:cs typeface="Times New Roman" panose="02020603050405020304" pitchFamily="18" charset="0"/>
                        </a:rPr>
                        <a:t>Speed</a:t>
                      </a:r>
                      <a:endParaRPr lang="en-IN" sz="2000" dirty="0">
                        <a:latin typeface="Times New Roman" panose="02020603050405020304" pitchFamily="18" charset="0"/>
                        <a:cs typeface="Times New Roman" panose="02020603050405020304" pitchFamily="18" charset="0"/>
                      </a:endParaRPr>
                    </a:p>
                  </a:txBody>
                  <a:tcPr/>
                </a:tc>
                <a:tc>
                  <a:txBody>
                    <a:bodyPr/>
                    <a:lstStyle/>
                    <a:p>
                      <a:pPr algn="l"/>
                      <a:r>
                        <a:rPr lang="en-US" sz="2000" dirty="0">
                          <a:latin typeface="Times New Roman" panose="02020603050405020304" pitchFamily="18" charset="0"/>
                          <a:cs typeface="Times New Roman" panose="02020603050405020304" pitchFamily="18" charset="0"/>
                        </a:rPr>
                        <a:t>Low</a:t>
                      </a:r>
                      <a:endParaRPr lang="en-IN" sz="2000" dirty="0">
                        <a:latin typeface="Times New Roman" panose="02020603050405020304" pitchFamily="18" charset="0"/>
                        <a:cs typeface="Times New Roman" panose="02020603050405020304" pitchFamily="18" charset="0"/>
                      </a:endParaRPr>
                    </a:p>
                  </a:txBody>
                  <a:tcPr/>
                </a:tc>
                <a:tc>
                  <a:txBody>
                    <a:bodyPr/>
                    <a:lstStyle/>
                    <a:p>
                      <a:pPr algn="l"/>
                      <a:r>
                        <a:rPr lang="en-US" sz="2000" dirty="0">
                          <a:latin typeface="Times New Roman" panose="02020603050405020304" pitchFamily="18" charset="0"/>
                          <a:cs typeface="Times New Roman" panose="02020603050405020304" pitchFamily="18" charset="0"/>
                        </a:rPr>
                        <a:t>High</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6"/>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latin typeface="Times New Roman" panose="02020603050405020304" pitchFamily="18" charset="0"/>
                <a:cs typeface="Times New Roman" panose="02020603050405020304" pitchFamily="18" charset="0"/>
                <a:sym typeface="+mn-ea"/>
              </a:rPr>
              <a:t>Feasibility Study</a:t>
            </a:r>
            <a:endParaRPr lang="en-IN" sz="36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546652" y="1580322"/>
            <a:ext cx="10807148" cy="4596641"/>
          </a:xfrm>
        </p:spPr>
        <p:txBody>
          <a:bodyPr>
            <a:normAutofit fontScale="92500" lnSpcReduction="20000"/>
          </a:bodyPr>
          <a:lstStyle/>
          <a:p>
            <a:pPr marL="0" indent="0">
              <a:buNone/>
            </a:pPr>
            <a:r>
              <a:rPr lang="en-US" sz="2200" b="1" dirty="0">
                <a:latin typeface="Times New Roman" panose="02020603050405020304" pitchFamily="18" charset="0"/>
                <a:cs typeface="Times New Roman" panose="02020603050405020304" pitchFamily="18" charset="0"/>
                <a:sym typeface="+mn-ea"/>
              </a:rPr>
              <a:t>Technical feasibility:</a:t>
            </a:r>
          </a:p>
          <a:p>
            <a:pPr marL="0" indent="0">
              <a:buNone/>
            </a:pPr>
            <a:br>
              <a:rPr lang="en-US" sz="2200" b="1" dirty="0">
                <a:latin typeface="Times New Roman" panose="02020603050405020304" pitchFamily="18" charset="0"/>
                <a:cs typeface="Times New Roman" panose="02020603050405020304" pitchFamily="18" charset="0"/>
                <a:sym typeface="+mn-ea"/>
              </a:rPr>
            </a:br>
            <a:r>
              <a:rPr lang="en-US" sz="2200" b="1" dirty="0">
                <a:latin typeface="Times New Roman" panose="02020603050405020304" pitchFamily="18" charset="0"/>
                <a:cs typeface="Times New Roman" panose="02020603050405020304" pitchFamily="18" charset="0"/>
                <a:sym typeface="+mn-ea"/>
              </a:rPr>
              <a:t>1. </a:t>
            </a:r>
            <a:r>
              <a:rPr lang="en-US" sz="2200" dirty="0">
                <a:latin typeface="Times New Roman" panose="02020603050405020304" pitchFamily="18" charset="0"/>
                <a:cs typeface="Times New Roman" panose="02020603050405020304" pitchFamily="18" charset="0"/>
                <a:sym typeface="+mn-ea"/>
              </a:rPr>
              <a:t>Uses widely available technologies (Python, CNN, OpenCV)</a:t>
            </a:r>
          </a:p>
          <a:p>
            <a:pPr marL="0" indent="0">
              <a:buNone/>
            </a:pPr>
            <a:br>
              <a:rPr lang="en-US" sz="2200" dirty="0">
                <a:latin typeface="Times New Roman" panose="02020603050405020304" pitchFamily="18" charset="0"/>
                <a:cs typeface="Times New Roman" panose="02020603050405020304" pitchFamily="18" charset="0"/>
                <a:sym typeface="+mn-ea"/>
              </a:rPr>
            </a:br>
            <a:r>
              <a:rPr lang="en-US" sz="2200" b="1" dirty="0">
                <a:latin typeface="Times New Roman" panose="02020603050405020304" pitchFamily="18" charset="0"/>
                <a:cs typeface="Times New Roman" panose="02020603050405020304" pitchFamily="18" charset="0"/>
                <a:sym typeface="+mn-ea"/>
              </a:rPr>
              <a:t>2</a:t>
            </a:r>
            <a:r>
              <a:rPr lang="en-US" sz="2200" dirty="0">
                <a:latin typeface="Times New Roman" panose="02020603050405020304" pitchFamily="18" charset="0"/>
                <a:cs typeface="Times New Roman" panose="02020603050405020304" pitchFamily="18" charset="0"/>
                <a:sym typeface="+mn-ea"/>
              </a:rPr>
              <a:t>. Tools like TensorFlow, </a:t>
            </a:r>
            <a:r>
              <a:rPr lang="en-US" sz="2200" dirty="0" err="1">
                <a:latin typeface="Times New Roman" panose="02020603050405020304" pitchFamily="18" charset="0"/>
                <a:cs typeface="Times New Roman" panose="02020603050405020304" pitchFamily="18" charset="0"/>
                <a:sym typeface="+mn-ea"/>
              </a:rPr>
              <a:t>PyTorch</a:t>
            </a:r>
            <a:r>
              <a:rPr lang="en-US" sz="2200" dirty="0">
                <a:latin typeface="Times New Roman" panose="02020603050405020304" pitchFamily="18" charset="0"/>
                <a:cs typeface="Times New Roman" panose="02020603050405020304" pitchFamily="18" charset="0"/>
                <a:sym typeface="+mn-ea"/>
              </a:rPr>
              <a:t> support deep learning tasks.</a:t>
            </a:r>
          </a:p>
          <a:p>
            <a:pPr marL="0" indent="0">
              <a:buNone/>
            </a:pPr>
            <a:br>
              <a:rPr lang="en-IN" sz="2200" b="1" dirty="0">
                <a:latin typeface="Times New Roman" panose="02020603050405020304" pitchFamily="18" charset="0"/>
                <a:cs typeface="Times New Roman" panose="02020603050405020304" pitchFamily="18" charset="0"/>
                <a:sym typeface="+mn-ea"/>
              </a:rPr>
            </a:br>
            <a:r>
              <a:rPr lang="en-IN" sz="2200" b="1" dirty="0">
                <a:latin typeface="Times New Roman" panose="02020603050405020304" pitchFamily="18" charset="0"/>
                <a:cs typeface="Times New Roman" panose="02020603050405020304" pitchFamily="18" charset="0"/>
                <a:sym typeface="+mn-ea"/>
              </a:rPr>
              <a:t>3.</a:t>
            </a:r>
            <a:r>
              <a:rPr lang="en-US" sz="2200" dirty="0">
                <a:sym typeface="+mn-ea"/>
              </a:rPr>
              <a:t>  </a:t>
            </a:r>
            <a:r>
              <a:rPr lang="en-US" sz="2200" dirty="0">
                <a:latin typeface="Times New Roman" panose="02020603050405020304" pitchFamily="18" charset="0"/>
                <a:cs typeface="Times New Roman" panose="02020603050405020304" pitchFamily="18" charset="0"/>
                <a:sym typeface="+mn-ea"/>
              </a:rPr>
              <a:t>Requires only a fingerprint image as input.</a:t>
            </a:r>
            <a:br>
              <a:rPr lang="en-US" sz="2200" dirty="0">
                <a:latin typeface="Times New Roman" panose="02020603050405020304" pitchFamily="18" charset="0"/>
                <a:cs typeface="Times New Roman" panose="02020603050405020304" pitchFamily="18" charset="0"/>
                <a:sym typeface="+mn-ea"/>
              </a:rPr>
            </a:br>
            <a:endParaRPr lang="en-US" sz="2200" dirty="0">
              <a:latin typeface="Times New Roman" panose="02020603050405020304" pitchFamily="18" charset="0"/>
              <a:cs typeface="Times New Roman" panose="02020603050405020304" pitchFamily="18" charset="0"/>
              <a:sym typeface="+mn-ea"/>
            </a:endParaRPr>
          </a:p>
          <a:p>
            <a:pPr marL="0" indent="0">
              <a:buNone/>
            </a:pPr>
            <a:r>
              <a:rPr lang="en-IN" sz="2200" b="1" dirty="0">
                <a:latin typeface="Times New Roman" panose="02020603050405020304" pitchFamily="18" charset="0"/>
                <a:cs typeface="Times New Roman" panose="02020603050405020304" pitchFamily="18" charset="0"/>
                <a:sym typeface="+mn-ea"/>
              </a:rPr>
              <a:t>Operational Feasibility:</a:t>
            </a:r>
          </a:p>
          <a:p>
            <a:pPr marL="0" indent="0">
              <a:buNone/>
            </a:pPr>
            <a:br>
              <a:rPr lang="en-IN" sz="2200" b="1" dirty="0">
                <a:latin typeface="Times New Roman" panose="02020603050405020304" pitchFamily="18" charset="0"/>
                <a:cs typeface="Times New Roman" panose="02020603050405020304" pitchFamily="18" charset="0"/>
                <a:sym typeface="+mn-ea"/>
              </a:rPr>
            </a:br>
            <a:r>
              <a:rPr lang="en-IN" sz="2200" b="1" dirty="0">
                <a:latin typeface="Times New Roman" panose="02020603050405020304" pitchFamily="18" charset="0"/>
                <a:cs typeface="Times New Roman" panose="02020603050405020304" pitchFamily="18" charset="0"/>
                <a:sym typeface="+mn-ea"/>
              </a:rPr>
              <a:t>1.</a:t>
            </a:r>
            <a:r>
              <a:rPr lang="en-US" sz="2200" dirty="0">
                <a:sym typeface="+mn-ea"/>
              </a:rPr>
              <a:t> </a:t>
            </a:r>
            <a:r>
              <a:rPr lang="en-US" sz="2200" dirty="0">
                <a:latin typeface="Times New Roman" panose="02020603050405020304" pitchFamily="18" charset="0"/>
                <a:cs typeface="Times New Roman" panose="02020603050405020304" pitchFamily="18" charset="0"/>
                <a:sym typeface="+mn-ea"/>
              </a:rPr>
              <a:t>Simple process: capture fingerprint → system predicts blood group.</a:t>
            </a:r>
          </a:p>
          <a:p>
            <a:pPr marL="0" indent="0">
              <a:buNone/>
            </a:pPr>
            <a:br>
              <a:rPr lang="en-US" sz="2200" dirty="0">
                <a:latin typeface="Times New Roman" panose="02020603050405020304" pitchFamily="18" charset="0"/>
                <a:cs typeface="Times New Roman" panose="02020603050405020304" pitchFamily="18" charset="0"/>
                <a:sym typeface="+mn-ea"/>
              </a:rPr>
            </a:br>
            <a:r>
              <a:rPr lang="en-US" sz="2200" b="1" dirty="0">
                <a:latin typeface="Times New Roman" panose="02020603050405020304" pitchFamily="18" charset="0"/>
                <a:cs typeface="Times New Roman" panose="02020603050405020304" pitchFamily="18" charset="0"/>
                <a:sym typeface="+mn-ea"/>
              </a:rPr>
              <a:t>2. </a:t>
            </a:r>
            <a:r>
              <a:rPr lang="en-US" sz="2200" dirty="0">
                <a:latin typeface="Times New Roman" panose="02020603050405020304" pitchFamily="18" charset="0"/>
                <a:cs typeface="Times New Roman" panose="02020603050405020304" pitchFamily="18" charset="0"/>
                <a:sym typeface="+mn-ea"/>
              </a:rPr>
              <a:t>Requires minimal training for healthcare workers.</a:t>
            </a:r>
          </a:p>
          <a:p>
            <a:pPr marL="0" indent="0">
              <a:buNone/>
            </a:pPr>
            <a:br>
              <a:rPr lang="en-US" sz="2200" dirty="0">
                <a:latin typeface="Times New Roman" panose="02020603050405020304" pitchFamily="18" charset="0"/>
                <a:cs typeface="Times New Roman" panose="02020603050405020304" pitchFamily="18" charset="0"/>
                <a:sym typeface="+mn-ea"/>
              </a:rPr>
            </a:br>
            <a:r>
              <a:rPr lang="en-US" sz="2200" b="1" dirty="0">
                <a:latin typeface="Times New Roman" panose="02020603050405020304" pitchFamily="18" charset="0"/>
                <a:cs typeface="Times New Roman" panose="02020603050405020304" pitchFamily="18" charset="0"/>
                <a:sym typeface="+mn-ea"/>
              </a:rPr>
              <a:t>3.</a:t>
            </a:r>
            <a:r>
              <a:rPr lang="en-US" sz="2200" dirty="0"/>
              <a:t> Portable and easy to deploy in diverse healthcare settings.</a:t>
            </a:r>
            <a:endParaRPr lang="en-US" sz="2200" b="1" dirty="0">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6CB4B4D-7CA3-9044-876B-883B54F8677D}" type="slidenum">
              <a:rPr lang="en-IN" smtClean="0"/>
              <a:t>11</a:t>
            </a:fld>
            <a:endParaRPr lang="en-IN"/>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latin typeface="Times New Roman" panose="02020603050405020304" pitchFamily="18" charset="0"/>
                <a:cs typeface="Times New Roman" panose="02020603050405020304" pitchFamily="18" charset="0"/>
              </a:rPr>
              <a:t>Project Management</a:t>
            </a:r>
            <a:endParaRPr lang="en-IN" sz="36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526774" y="1480930"/>
            <a:ext cx="10827026" cy="4696033"/>
          </a:xfrm>
        </p:spPr>
        <p:txBody>
          <a:bodyPr>
            <a:normAutofit/>
          </a:bodyPr>
          <a:lstStyle/>
          <a:p>
            <a:pPr marL="0" indent="0">
              <a:buNone/>
            </a:pPr>
            <a:r>
              <a:rPr lang="en-US" sz="2200" dirty="0">
                <a:latin typeface="Times New Roman" panose="02020603050405020304" pitchFamily="18" charset="0"/>
                <a:cs typeface="Times New Roman" panose="02020603050405020304" pitchFamily="18" charset="0"/>
              </a:rPr>
              <a:t>The project follows a structured, phase-wise approach to ensure timely and quality outcomes.</a:t>
            </a:r>
          </a:p>
          <a:p>
            <a:pPr marL="0" indent="0">
              <a:buNone/>
            </a:pPr>
            <a:endParaRPr lang="en-US" sz="2200" dirty="0">
              <a:latin typeface="Times New Roman" panose="02020603050405020304" pitchFamily="18" charset="0"/>
              <a:cs typeface="Times New Roman" panose="02020603050405020304" pitchFamily="18" charset="0"/>
            </a:endParaRPr>
          </a:p>
          <a:p>
            <a:pPr marL="0" indent="0">
              <a:buNone/>
            </a:pPr>
            <a:r>
              <a:rPr lang="en-US" sz="2200" b="1" dirty="0">
                <a:latin typeface="Times New Roman" panose="02020603050405020304" pitchFamily="18" charset="0"/>
                <a:cs typeface="Times New Roman" panose="02020603050405020304" pitchFamily="18" charset="0"/>
              </a:rPr>
              <a:t>1.Planning Phase:</a:t>
            </a:r>
          </a:p>
          <a:p>
            <a:r>
              <a:rPr lang="en-US" sz="2200" dirty="0">
                <a:latin typeface="Times New Roman" panose="02020603050405020304" pitchFamily="18" charset="0"/>
                <a:cs typeface="Times New Roman" panose="02020603050405020304" pitchFamily="18" charset="0"/>
              </a:rPr>
              <a:t>Define project objectives, scope, and deliverables.</a:t>
            </a:r>
          </a:p>
          <a:p>
            <a:r>
              <a:rPr lang="en-US" sz="2200" dirty="0">
                <a:latin typeface="Times New Roman" panose="02020603050405020304" pitchFamily="18" charset="0"/>
                <a:cs typeface="Times New Roman" panose="02020603050405020304" pitchFamily="18" charset="0"/>
              </a:rPr>
              <a:t>Gather requirements for dataset collection, fingerprint preprocessing, and </a:t>
            </a:r>
            <a:r>
              <a:rPr lang="en-US" sz="2200" dirty="0" err="1">
                <a:latin typeface="Times New Roman" panose="02020603050405020304" pitchFamily="18" charset="0"/>
                <a:cs typeface="Times New Roman" panose="02020603050405020304" pitchFamily="18" charset="0"/>
              </a:rPr>
              <a:t>ResNet</a:t>
            </a:r>
            <a:r>
              <a:rPr lang="en-US" sz="2200" dirty="0">
                <a:latin typeface="Times New Roman" panose="02020603050405020304" pitchFamily="18" charset="0"/>
                <a:cs typeface="Times New Roman" panose="02020603050405020304" pitchFamily="18" charset="0"/>
              </a:rPr>
              <a:t>-based CNN selection.</a:t>
            </a:r>
          </a:p>
          <a:p>
            <a:r>
              <a:rPr lang="en-US" sz="2200" dirty="0">
                <a:latin typeface="Times New Roman" panose="02020603050405020304" pitchFamily="18" charset="0"/>
                <a:cs typeface="Times New Roman" panose="02020603050405020304" pitchFamily="18" charset="0"/>
              </a:rPr>
              <a:t>Create a project schedule and divide tasks among team members.</a:t>
            </a:r>
          </a:p>
          <a:p>
            <a:endParaRPr lang="en-US" sz="2200" dirty="0">
              <a:latin typeface="Times New Roman" panose="02020603050405020304" pitchFamily="18" charset="0"/>
              <a:cs typeface="Times New Roman" panose="02020603050405020304" pitchFamily="18" charset="0"/>
            </a:endParaRPr>
          </a:p>
          <a:p>
            <a:pPr marL="0" indent="0">
              <a:buNone/>
            </a:pPr>
            <a:r>
              <a:rPr lang="en-US" sz="2200" b="1" dirty="0">
                <a:latin typeface="Times New Roman" panose="02020603050405020304" pitchFamily="18" charset="0"/>
                <a:cs typeface="Times New Roman" panose="02020603050405020304" pitchFamily="18" charset="0"/>
              </a:rPr>
              <a:t>2.Execution &amp; Monitoring Phase:</a:t>
            </a:r>
          </a:p>
          <a:p>
            <a:r>
              <a:rPr lang="en-US" sz="2200" dirty="0">
                <a:latin typeface="Times New Roman" panose="02020603050405020304" pitchFamily="18" charset="0"/>
                <a:cs typeface="Times New Roman" panose="02020603050405020304" pitchFamily="18" charset="0"/>
              </a:rPr>
              <a:t>Perform data preparation, model development, training, and testing.</a:t>
            </a:r>
          </a:p>
          <a:p>
            <a:r>
              <a:rPr lang="en-US" sz="2200" dirty="0">
                <a:latin typeface="Times New Roman" panose="02020603050405020304" pitchFamily="18" charset="0"/>
                <a:cs typeface="Times New Roman" panose="02020603050405020304" pitchFamily="18" charset="0"/>
              </a:rPr>
              <a:t>Conduct regular progress reviews to track milestones and performance.</a:t>
            </a:r>
          </a:p>
          <a:p>
            <a:pPr marL="0" indent="0">
              <a:buNone/>
            </a:pPr>
            <a:endParaRPr lang="en-US" sz="2200" dirty="0">
              <a:latin typeface="Times New Roman" panose="02020603050405020304" pitchFamily="18" charset="0"/>
              <a:cs typeface="Times New Roman" panose="02020603050405020304" pitchFamily="18" charset="0"/>
            </a:endParaRPr>
          </a:p>
          <a:p>
            <a:pPr marL="0" indent="0">
              <a:buNone/>
            </a:pPr>
            <a:endParaRPr lang="en-US" dirty="0"/>
          </a:p>
          <a:p>
            <a:pPr marL="0" indent="0">
              <a:buNone/>
            </a:pPr>
            <a:endParaRPr lang="en-US" dirty="0"/>
          </a:p>
          <a:p>
            <a:pPr marL="0" indent="0">
              <a:buNone/>
            </a:pPr>
            <a:endParaRPr lang="en-IN" dirty="0"/>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6CB4B4D-7CA3-9044-876B-883B54F8677D}" type="slidenum">
              <a:rPr lang="en-IN" smtClean="0"/>
              <a:t>12</a:t>
            </a:fld>
            <a:endParaRPr lang="en-IN"/>
          </a:p>
        </p:txBody>
      </p:sp>
      <p:sp>
        <p:nvSpPr>
          <p:cNvPr id="7" name="Rectangle 2">
            <a:extLst>
              <a:ext uri="{FF2B5EF4-FFF2-40B4-BE49-F238E27FC236}">
                <a16:creationId xmlns:a16="http://schemas.microsoft.com/office/drawing/2014/main" id="{D75BF044-634C-0813-C800-E64C1A6BF982}"/>
              </a:ext>
            </a:extLst>
          </p:cNvPr>
          <p:cNvSpPr>
            <a:spLocks noChangeArrowheads="1"/>
          </p:cNvSpPr>
          <p:nvPr/>
        </p:nvSpPr>
        <p:spPr bwMode="auto">
          <a:xfrm>
            <a:off x="526774" y="2998956"/>
            <a:ext cx="1035633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38DE1B-6BE3-C27D-5803-8343F7C5BE6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7A2164C-974F-2FE9-157E-F2901B13C81A}"/>
              </a:ext>
            </a:extLst>
          </p:cNvPr>
          <p:cNvSpPr>
            <a:spLocks noGrp="1"/>
          </p:cNvSpPr>
          <p:nvPr>
            <p:ph idx="1"/>
          </p:nvPr>
        </p:nvSpPr>
        <p:spPr/>
        <p:txBody>
          <a:bodyPr>
            <a:normAutofit/>
          </a:bodyPr>
          <a:lstStyle/>
          <a:p>
            <a:pPr marL="0" indent="0" algn="just">
              <a:buNone/>
            </a:pPr>
            <a:r>
              <a:rPr lang="en-US" sz="2200" b="1" dirty="0">
                <a:latin typeface="Times New Roman" panose="02020603050405020304" pitchFamily="18" charset="0"/>
                <a:cs typeface="Times New Roman" panose="02020603050405020304" pitchFamily="18" charset="0"/>
              </a:rPr>
              <a:t>3.Quality &amp; Documentation:</a:t>
            </a:r>
            <a:endParaRPr lang="en-US" sz="2200" dirty="0">
              <a:latin typeface="Times New Roman" panose="02020603050405020304" pitchFamily="18" charset="0"/>
              <a:cs typeface="Times New Roman" panose="02020603050405020304" pitchFamily="18" charset="0"/>
            </a:endParaRPr>
          </a:p>
          <a:p>
            <a:pPr algn="just"/>
            <a:r>
              <a:rPr lang="en-US" sz="2200" dirty="0">
                <a:latin typeface="Times New Roman" panose="02020603050405020304" pitchFamily="18" charset="0"/>
                <a:cs typeface="Times New Roman" panose="02020603050405020304" pitchFamily="18" charset="0"/>
              </a:rPr>
              <a:t>Ensure the system meets accuracy, usability, and healthcare standards.</a:t>
            </a:r>
          </a:p>
          <a:p>
            <a:pPr algn="just"/>
            <a:r>
              <a:rPr lang="en-US" sz="2200" dirty="0">
                <a:latin typeface="Times New Roman" panose="02020603050405020304" pitchFamily="18" charset="0"/>
                <a:cs typeface="Times New Roman" panose="02020603050405020304" pitchFamily="18" charset="0"/>
              </a:rPr>
              <a:t>Maintain proper documentation and result analysis.</a:t>
            </a:r>
          </a:p>
          <a:p>
            <a:pPr marL="0" indent="0" algn="just">
              <a:buNone/>
            </a:pPr>
            <a:endParaRPr lang="en-US" sz="2200" b="1" dirty="0">
              <a:latin typeface="Times New Roman" panose="02020603050405020304" pitchFamily="18" charset="0"/>
              <a:cs typeface="Times New Roman" panose="02020603050405020304" pitchFamily="18" charset="0"/>
            </a:endParaRPr>
          </a:p>
          <a:p>
            <a:pPr marL="0" indent="0" algn="just">
              <a:buNone/>
            </a:pPr>
            <a:r>
              <a:rPr lang="en-US" sz="2200" b="1" dirty="0">
                <a:latin typeface="Times New Roman" panose="02020603050405020304" pitchFamily="18" charset="0"/>
                <a:cs typeface="Times New Roman" panose="02020603050405020304" pitchFamily="18" charset="0"/>
              </a:rPr>
              <a:t>4.Final Phase:</a:t>
            </a:r>
            <a:endParaRPr lang="en-US" sz="2200" dirty="0">
              <a:latin typeface="Times New Roman" panose="02020603050405020304" pitchFamily="18" charset="0"/>
              <a:cs typeface="Times New Roman" panose="02020603050405020304" pitchFamily="18" charset="0"/>
            </a:endParaRPr>
          </a:p>
          <a:p>
            <a:pPr algn="just"/>
            <a:r>
              <a:rPr lang="en-US" sz="2200" dirty="0">
                <a:latin typeface="Times New Roman" panose="02020603050405020304" pitchFamily="18" charset="0"/>
                <a:cs typeface="Times New Roman" panose="02020603050405020304" pitchFamily="18" charset="0"/>
              </a:rPr>
              <a:t>Plan deployment and prepare final reports.</a:t>
            </a:r>
          </a:p>
          <a:p>
            <a:pPr algn="just"/>
            <a:r>
              <a:rPr lang="en-US" sz="2200" dirty="0">
                <a:latin typeface="Times New Roman" panose="02020603050405020304" pitchFamily="18" charset="0"/>
                <a:cs typeface="Times New Roman" panose="02020603050405020304" pitchFamily="18" charset="0"/>
              </a:rPr>
              <a:t>Evaluate overall system performance for scalability and real-world use.</a:t>
            </a:r>
          </a:p>
          <a:p>
            <a:pPr algn="just"/>
            <a:endParaRPr lang="en-IN" sz="22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2B72F53B-49F5-2950-AA37-2B8A7D8C61B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0773D36-EB37-53FE-4850-4110F1D8B513}"/>
              </a:ext>
            </a:extLst>
          </p:cNvPr>
          <p:cNvSpPr>
            <a:spLocks noGrp="1"/>
          </p:cNvSpPr>
          <p:nvPr>
            <p:ph type="sldNum" sz="quarter" idx="12"/>
          </p:nvPr>
        </p:nvSpPr>
        <p:spPr/>
        <p:txBody>
          <a:bodyPr/>
          <a:lstStyle/>
          <a:p>
            <a:fld id="{86CB4B4D-7CA3-9044-876B-883B54F8677D}" type="slidenum">
              <a:rPr lang="en-IN" smtClean="0"/>
              <a:t>13</a:t>
            </a:fld>
            <a:endParaRPr lang="en-IN"/>
          </a:p>
        </p:txBody>
      </p:sp>
    </p:spTree>
    <p:extLst>
      <p:ext uri="{BB962C8B-B14F-4D97-AF65-F5344CB8AC3E}">
        <p14:creationId xmlns:p14="http://schemas.microsoft.com/office/powerpoint/2010/main" val="29340890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6EFFE6-A5FF-6DEE-653A-CC3B68135907}"/>
              </a:ext>
            </a:extLst>
          </p:cNvPr>
          <p:cNvSpPr>
            <a:spLocks noGrp="1"/>
          </p:cNvSpPr>
          <p:nvPr>
            <p:ph type="title"/>
          </p:nvPr>
        </p:nvSpPr>
        <p:spPr/>
        <p:txBody>
          <a:bodyPr>
            <a:normAutofit/>
          </a:bodyPr>
          <a:lstStyle/>
          <a:p>
            <a:r>
              <a:rPr lang="en-US" sz="3600" b="1" dirty="0">
                <a:latin typeface="Times New Roman" panose="02020603050405020304" pitchFamily="18" charset="0"/>
                <a:cs typeface="Times New Roman" panose="02020603050405020304" pitchFamily="18" charset="0"/>
              </a:rPr>
              <a:t>Cost Estimation(Using COCOMO Model):</a:t>
            </a:r>
            <a:endParaRPr lang="en-IN" sz="36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CDC22BB-9B1C-D528-5FC7-EFC7CE6877DB}"/>
              </a:ext>
            </a:extLst>
          </p:cNvPr>
          <p:cNvSpPr>
            <a:spLocks noGrp="1"/>
          </p:cNvSpPr>
          <p:nvPr>
            <p:ph idx="1"/>
          </p:nvPr>
        </p:nvSpPr>
        <p:spPr/>
        <p:txBody>
          <a:bodyPr>
            <a:normAutofit/>
          </a:bodyPr>
          <a:lstStyle/>
          <a:p>
            <a:r>
              <a:rPr lang="en-IN" sz="2200" dirty="0">
                <a:latin typeface="Times New Roman" panose="02020603050405020304" pitchFamily="18" charset="0"/>
                <a:cs typeface="Times New Roman" panose="02020603050405020304" pitchFamily="18" charset="0"/>
              </a:rPr>
              <a:t>The Basic COCOMO (Constructive Cost Model) is used to estimate the effort, development time, team size, and cost of a software project based on its size measured in KLOC (Thousands of Lines of Code).</a:t>
            </a:r>
          </a:p>
          <a:p>
            <a:endParaRPr lang="en-IN" sz="2200" dirty="0">
              <a:latin typeface="Times New Roman" panose="02020603050405020304" pitchFamily="18" charset="0"/>
              <a:cs typeface="Times New Roman" panose="02020603050405020304" pitchFamily="18" charset="0"/>
            </a:endParaRPr>
          </a:p>
          <a:p>
            <a:r>
              <a:rPr lang="en-IN" sz="2200" dirty="0">
                <a:latin typeface="Times New Roman" panose="02020603050405020304" pitchFamily="18" charset="0"/>
                <a:cs typeface="Times New Roman" panose="02020603050405020304" pitchFamily="18" charset="0"/>
              </a:rPr>
              <a:t>Our project, Non-Invasive Blood Group Detection Using Fingerprint and AI, is a research-oriented web-based application with moderate algorithmic logic and a flexible development environment. Since the system is developed using standard tools, has manageable complexity, and does not involve strict real-time constraints, it is classified under the Organic project category.</a:t>
            </a:r>
          </a:p>
          <a:p>
            <a:pPr marL="0" indent="0">
              <a:buNone/>
            </a:pPr>
            <a:r>
              <a:rPr lang="en-IN" sz="2200" dirty="0">
                <a:latin typeface="Times New Roman" panose="02020603050405020304" pitchFamily="18" charset="0"/>
                <a:cs typeface="Times New Roman" panose="02020603050405020304" pitchFamily="18" charset="0"/>
              </a:rPr>
              <a:t> </a:t>
            </a:r>
          </a:p>
          <a:p>
            <a:pPr marL="0" indent="0">
              <a:buNone/>
            </a:pPr>
            <a:endParaRPr lang="en-IN" sz="2200" dirty="0">
              <a:latin typeface="Times New Roman" panose="02020603050405020304" pitchFamily="18" charset="0"/>
              <a:cs typeface="Times New Roman" panose="02020603050405020304" pitchFamily="18" charset="0"/>
            </a:endParaRPr>
          </a:p>
          <a:p>
            <a:pPr marL="0" indent="0">
              <a:buNone/>
            </a:pPr>
            <a:endParaRPr lang="en-US" sz="2200" dirty="0">
              <a:latin typeface="Times New Roman" panose="02020603050405020304" pitchFamily="18" charset="0"/>
              <a:cs typeface="Times New Roman" panose="02020603050405020304" pitchFamily="18" charset="0"/>
            </a:endParaRPr>
          </a:p>
          <a:p>
            <a:endParaRPr lang="en-IN" sz="22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5C18560D-329A-649D-8B6A-4623C4C6261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17C30D3-3652-0395-3F37-7DAE5AD475D6}"/>
              </a:ext>
            </a:extLst>
          </p:cNvPr>
          <p:cNvSpPr>
            <a:spLocks noGrp="1"/>
          </p:cNvSpPr>
          <p:nvPr>
            <p:ph type="sldNum" sz="quarter" idx="12"/>
          </p:nvPr>
        </p:nvSpPr>
        <p:spPr/>
        <p:txBody>
          <a:bodyPr/>
          <a:lstStyle/>
          <a:p>
            <a:fld id="{86CB4B4D-7CA3-9044-876B-883B54F8677D}" type="slidenum">
              <a:rPr lang="en-IN" smtClean="0"/>
              <a:t>14</a:t>
            </a:fld>
            <a:endParaRPr lang="en-IN"/>
          </a:p>
        </p:txBody>
      </p:sp>
    </p:spTree>
    <p:extLst>
      <p:ext uri="{BB962C8B-B14F-4D97-AF65-F5344CB8AC3E}">
        <p14:creationId xmlns:p14="http://schemas.microsoft.com/office/powerpoint/2010/main" val="17469379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80543E-37A1-E81B-0A6D-92792E6204E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174CDD5-9C7B-887D-A541-427B9F45AF60}"/>
              </a:ext>
            </a:extLst>
          </p:cNvPr>
          <p:cNvSpPr>
            <a:spLocks noGrp="1"/>
          </p:cNvSpPr>
          <p:nvPr>
            <p:ph idx="1"/>
          </p:nvPr>
        </p:nvSpPr>
        <p:spPr>
          <a:xfrm>
            <a:off x="586409" y="944217"/>
            <a:ext cx="10767391" cy="5232746"/>
          </a:xfrm>
        </p:spPr>
        <p:txBody>
          <a:bodyPr>
            <a:noAutofit/>
          </a:bodyPr>
          <a:lstStyle/>
          <a:p>
            <a:pPr marL="0" indent="0">
              <a:buNone/>
            </a:pPr>
            <a:r>
              <a:rPr lang="en-IN" sz="2200" b="1" dirty="0">
                <a:latin typeface="Times New Roman" panose="02020603050405020304" pitchFamily="18" charset="0"/>
                <a:cs typeface="Times New Roman" panose="02020603050405020304" pitchFamily="18" charset="0"/>
              </a:rPr>
              <a:t>COCOMO Equations Used:</a:t>
            </a:r>
            <a:endParaRPr lang="en-IN" sz="2200" dirty="0">
              <a:latin typeface="Times New Roman" panose="02020603050405020304" pitchFamily="18" charset="0"/>
              <a:cs typeface="Times New Roman" panose="02020603050405020304" pitchFamily="18" charset="0"/>
            </a:endParaRPr>
          </a:p>
          <a:p>
            <a:pPr lvl="0"/>
            <a:endParaRPr lang="en-IN" sz="2200" dirty="0">
              <a:latin typeface="Times New Roman" panose="02020603050405020304" pitchFamily="18" charset="0"/>
              <a:cs typeface="Times New Roman" panose="02020603050405020304" pitchFamily="18" charset="0"/>
            </a:endParaRPr>
          </a:p>
          <a:p>
            <a:pPr lvl="0"/>
            <a:r>
              <a:rPr lang="en-IN" sz="2200" dirty="0">
                <a:latin typeface="Times New Roman" panose="02020603050405020304" pitchFamily="18" charset="0"/>
                <a:cs typeface="Times New Roman" panose="02020603050405020304" pitchFamily="18" charset="0"/>
              </a:rPr>
              <a:t>Effort (E) = a × (KLOC)ᵇ (measured in Person-Months)</a:t>
            </a:r>
          </a:p>
          <a:p>
            <a:pPr lvl="0"/>
            <a:r>
              <a:rPr lang="en-IN" sz="2200" dirty="0">
                <a:latin typeface="Times New Roman" panose="02020603050405020304" pitchFamily="18" charset="0"/>
                <a:cs typeface="Times New Roman" panose="02020603050405020304" pitchFamily="18" charset="0"/>
              </a:rPr>
              <a:t>Development Time (T) = c × (E)ᵈ (measured in Months)</a:t>
            </a:r>
          </a:p>
          <a:p>
            <a:pPr lvl="0"/>
            <a:r>
              <a:rPr lang="en-IN" sz="2200" dirty="0">
                <a:latin typeface="Times New Roman" panose="02020603050405020304" pitchFamily="18" charset="0"/>
                <a:cs typeface="Times New Roman" panose="02020603050405020304" pitchFamily="18" charset="0"/>
              </a:rPr>
              <a:t>Team Size = Effort / Development Time</a:t>
            </a:r>
          </a:p>
          <a:p>
            <a:pPr lvl="0"/>
            <a:r>
              <a:rPr lang="en-IN" sz="2200" dirty="0">
                <a:latin typeface="Times New Roman" panose="02020603050405020304" pitchFamily="18" charset="0"/>
                <a:cs typeface="Times New Roman" panose="02020603050405020304" pitchFamily="18" charset="0"/>
              </a:rPr>
              <a:t>Total Cost = Effort × Cost per Person-Month</a:t>
            </a:r>
          </a:p>
          <a:p>
            <a:endParaRPr lang="en-US" sz="2200" dirty="0">
              <a:latin typeface="Times New Roman" panose="02020603050405020304" pitchFamily="18" charset="0"/>
              <a:cs typeface="Times New Roman" panose="02020603050405020304" pitchFamily="18" charset="0"/>
            </a:endParaRPr>
          </a:p>
          <a:p>
            <a:pPr marL="0" indent="0">
              <a:buNone/>
            </a:pPr>
            <a:r>
              <a:rPr lang="en-US" sz="2200" b="1" dirty="0">
                <a:latin typeface="Times New Roman" panose="02020603050405020304" pitchFamily="18" charset="0"/>
                <a:cs typeface="Times New Roman" panose="02020603050405020304" pitchFamily="18" charset="0"/>
              </a:rPr>
              <a:t>Project Type: </a:t>
            </a:r>
            <a:r>
              <a:rPr lang="en-US" sz="2200" dirty="0">
                <a:latin typeface="Times New Roman" panose="02020603050405020304" pitchFamily="18" charset="0"/>
                <a:cs typeface="Times New Roman" panose="02020603050405020304" pitchFamily="18" charset="0"/>
              </a:rPr>
              <a:t>Organic</a:t>
            </a:r>
          </a:p>
          <a:p>
            <a:r>
              <a:rPr lang="en-US" sz="2200" dirty="0">
                <a:latin typeface="Times New Roman" panose="02020603050405020304" pitchFamily="18" charset="0"/>
                <a:cs typeface="Times New Roman" panose="02020603050405020304" pitchFamily="18" charset="0"/>
              </a:rPr>
              <a:t>Project Size: ~7.8 KLOC</a:t>
            </a:r>
          </a:p>
          <a:p>
            <a:r>
              <a:rPr lang="en-US" sz="2200" dirty="0">
                <a:latin typeface="Times New Roman" panose="02020603050405020304" pitchFamily="18" charset="0"/>
                <a:cs typeface="Times New Roman" panose="02020603050405020304" pitchFamily="18" charset="0"/>
              </a:rPr>
              <a:t>Development Time: ~5–6 months</a:t>
            </a:r>
          </a:p>
          <a:p>
            <a:r>
              <a:rPr lang="en-US" sz="2200" dirty="0">
                <a:latin typeface="Times New Roman" panose="02020603050405020304" pitchFamily="18" charset="0"/>
                <a:cs typeface="Times New Roman" panose="02020603050405020304" pitchFamily="18" charset="0"/>
              </a:rPr>
              <a:t>Team Size: 4 members</a:t>
            </a:r>
          </a:p>
          <a:p>
            <a:r>
              <a:rPr lang="en-US" sz="2200" dirty="0">
                <a:latin typeface="Times New Roman" panose="02020603050405020304" pitchFamily="18" charset="0"/>
                <a:cs typeface="Times New Roman" panose="02020603050405020304" pitchFamily="18" charset="0"/>
              </a:rPr>
              <a:t>Cost per Person-Month: ₹350 (academic assumption)</a:t>
            </a:r>
          </a:p>
          <a:p>
            <a:r>
              <a:rPr lang="en-US" sz="2200" dirty="0">
                <a:latin typeface="Times New Roman" panose="02020603050405020304" pitchFamily="18" charset="0"/>
                <a:cs typeface="Times New Roman" panose="02020603050405020304" pitchFamily="18" charset="0"/>
              </a:rPr>
              <a:t>Estimated Total Cost: ₹7,280 (≈ ₹7,500)</a:t>
            </a:r>
          </a:p>
          <a:p>
            <a:endParaRPr lang="en-IN" sz="22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9516C2EF-7F5D-7CA3-58E3-0E41C3D9C38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5934810-E1F1-F186-B4E8-5FB26D21153D}"/>
              </a:ext>
            </a:extLst>
          </p:cNvPr>
          <p:cNvSpPr>
            <a:spLocks noGrp="1"/>
          </p:cNvSpPr>
          <p:nvPr>
            <p:ph type="sldNum" sz="quarter" idx="12"/>
          </p:nvPr>
        </p:nvSpPr>
        <p:spPr/>
        <p:txBody>
          <a:bodyPr/>
          <a:lstStyle/>
          <a:p>
            <a:fld id="{86CB4B4D-7CA3-9044-876B-883B54F8677D}" type="slidenum">
              <a:rPr lang="en-IN" smtClean="0"/>
              <a:t>15</a:t>
            </a:fld>
            <a:endParaRPr lang="en-IN"/>
          </a:p>
        </p:txBody>
      </p:sp>
    </p:spTree>
    <p:extLst>
      <p:ext uri="{BB962C8B-B14F-4D97-AF65-F5344CB8AC3E}">
        <p14:creationId xmlns:p14="http://schemas.microsoft.com/office/powerpoint/2010/main" val="15004655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 name="Title 1"/>
          <p:cNvSpPr txBox="1">
            <a:spLocks noGrp="1"/>
          </p:cNvSpPr>
          <p:nvPr>
            <p:ph type="title"/>
          </p:nvPr>
        </p:nvSpPr>
        <p:spPr>
          <a:xfrm>
            <a:off x="754224" y="122529"/>
            <a:ext cx="10515601" cy="1325564"/>
          </a:xfrm>
          <a:prstGeom prst="rect">
            <a:avLst/>
          </a:prstGeom>
        </p:spPr>
        <p:txBody>
          <a:bodyPr>
            <a:normAutofit/>
          </a:bodyPr>
          <a:lstStyle>
            <a:lvl1pPr>
              <a:defRPr b="1">
                <a:latin typeface="Times New Roman" panose="02020603050405020304"/>
                <a:ea typeface="Times New Roman" panose="02020603050405020304"/>
                <a:cs typeface="Times New Roman" panose="02020603050405020304"/>
                <a:sym typeface="Times New Roman" panose="02020603050405020304"/>
              </a:defRPr>
            </a:lvl1pPr>
          </a:lstStyle>
          <a:p>
            <a:r>
              <a:rPr sz="3600" dirty="0"/>
              <a:t>System Requirements</a:t>
            </a:r>
          </a:p>
        </p:txBody>
      </p:sp>
      <p:sp>
        <p:nvSpPr>
          <p:cNvPr id="124" name="Content Placeholder 2"/>
          <p:cNvSpPr txBox="1">
            <a:spLocks noGrp="1"/>
          </p:cNvSpPr>
          <p:nvPr>
            <p:ph idx="1"/>
          </p:nvPr>
        </p:nvSpPr>
        <p:spPr>
          <a:xfrm>
            <a:off x="754224" y="1274356"/>
            <a:ext cx="10983687" cy="4876801"/>
          </a:xfrm>
          <a:prstGeom prst="rect">
            <a:avLst/>
          </a:prstGeom>
        </p:spPr>
        <p:txBody>
          <a:bodyPr>
            <a:noAutofit/>
          </a:bodyPr>
          <a:lstStyle/>
          <a:p>
            <a:pPr marL="0" indent="0" algn="just">
              <a:buNone/>
            </a:pPr>
            <a:r>
              <a:rPr lang="en-IN" sz="2200" b="1" dirty="0">
                <a:latin typeface="Times New Roman" panose="02020603050405020304" pitchFamily="18" charset="0"/>
                <a:cs typeface="Times New Roman" panose="02020603050405020304" pitchFamily="18" charset="0"/>
              </a:rPr>
              <a:t>Software Requirements:</a:t>
            </a:r>
            <a:endParaRPr lang="en-IN" sz="2200" dirty="0">
              <a:latin typeface="Times New Roman" panose="02020603050405020304" pitchFamily="18" charset="0"/>
              <a:cs typeface="Times New Roman" panose="02020603050405020304" pitchFamily="18" charset="0"/>
            </a:endParaRPr>
          </a:p>
          <a:p>
            <a:pPr algn="just">
              <a:lnSpc>
                <a:spcPct val="150000"/>
              </a:lnSpc>
            </a:pPr>
            <a:r>
              <a:rPr lang="en-IN" sz="2200" dirty="0">
                <a:latin typeface="Times New Roman" panose="02020603050405020304" pitchFamily="18" charset="0"/>
              </a:rPr>
              <a:t>Computer/Laptop – Minimum Intel i5 processor, 8 GB RAM, 256 GB SSD. </a:t>
            </a:r>
          </a:p>
          <a:p>
            <a:pPr algn="just">
              <a:lnSpc>
                <a:spcPct val="150000"/>
              </a:lnSpc>
            </a:pPr>
            <a:r>
              <a:rPr lang="en-US" sz="2200" dirty="0">
                <a:latin typeface="Times New Roman" panose="02020603050405020304" pitchFamily="18" charset="0"/>
              </a:rPr>
              <a:t>Storage Device – To store fingerprint images, models, and results. </a:t>
            </a:r>
          </a:p>
          <a:p>
            <a:pPr marL="0" indent="0" algn="just">
              <a:buNone/>
            </a:pPr>
            <a:r>
              <a:rPr lang="en-IN" sz="2200" b="1" dirty="0">
                <a:latin typeface="Times New Roman" panose="02020603050405020304" pitchFamily="18" charset="0"/>
                <a:cs typeface="Times New Roman" panose="02020603050405020304" pitchFamily="18" charset="0"/>
              </a:rPr>
              <a:t>Hardware Requirements:</a:t>
            </a:r>
            <a:endParaRPr lang="en-IN" sz="2200" dirty="0">
              <a:latin typeface="Times New Roman" panose="02020603050405020304" pitchFamily="18" charset="0"/>
              <a:cs typeface="Times New Roman" panose="02020603050405020304" pitchFamily="18" charset="0"/>
            </a:endParaRPr>
          </a:p>
          <a:p>
            <a:pPr algn="just">
              <a:lnSpc>
                <a:spcPct val="150000"/>
              </a:lnSpc>
            </a:pPr>
            <a:r>
              <a:rPr lang="en-US" sz="2200" dirty="0">
                <a:latin typeface="Times New Roman" panose="02020603050405020304" pitchFamily="18" charset="0"/>
              </a:rPr>
              <a:t>Operating System – Windows 10/11, Ubuntu, or </a:t>
            </a:r>
            <a:r>
              <a:rPr lang="en-US" sz="2200" dirty="0" err="1">
                <a:latin typeface="Times New Roman" panose="02020603050405020304" pitchFamily="18" charset="0"/>
              </a:rPr>
              <a:t>macOS</a:t>
            </a:r>
            <a:r>
              <a:rPr lang="en-US" sz="2200" dirty="0">
                <a:latin typeface="Times New Roman" panose="02020603050405020304" pitchFamily="18" charset="0"/>
              </a:rPr>
              <a:t> </a:t>
            </a:r>
          </a:p>
          <a:p>
            <a:pPr algn="just">
              <a:lnSpc>
                <a:spcPct val="150000"/>
              </a:lnSpc>
            </a:pPr>
            <a:r>
              <a:rPr lang="en-US" sz="2200" dirty="0">
                <a:latin typeface="Times New Roman" panose="02020603050405020304" pitchFamily="18" charset="0"/>
              </a:rPr>
              <a:t>Programming Language – Python </a:t>
            </a:r>
          </a:p>
          <a:p>
            <a:pPr algn="just">
              <a:lnSpc>
                <a:spcPct val="150000"/>
              </a:lnSpc>
            </a:pPr>
            <a:r>
              <a:rPr lang="en-IN" sz="2200" dirty="0">
                <a:latin typeface="Times New Roman" panose="02020603050405020304" pitchFamily="18" charset="0"/>
              </a:rPr>
              <a:t>Deep Learning Framework – </a:t>
            </a:r>
            <a:r>
              <a:rPr lang="en-IN" sz="2200" dirty="0" err="1">
                <a:latin typeface="Times New Roman" panose="02020603050405020304" pitchFamily="18" charset="0"/>
              </a:rPr>
              <a:t>TensorFlow</a:t>
            </a:r>
            <a:r>
              <a:rPr lang="en-IN" sz="2200" dirty="0">
                <a:latin typeface="Times New Roman" panose="02020603050405020304" pitchFamily="18" charset="0"/>
              </a:rPr>
              <a:t> or </a:t>
            </a:r>
            <a:r>
              <a:rPr lang="en-IN" sz="2200" dirty="0" err="1">
                <a:latin typeface="Times New Roman" panose="02020603050405020304" pitchFamily="18" charset="0"/>
              </a:rPr>
              <a:t>PyTorch</a:t>
            </a:r>
            <a:endParaRPr lang="en-IN" sz="2200" dirty="0">
              <a:latin typeface="Times New Roman" panose="02020603050405020304" pitchFamily="18" charset="0"/>
            </a:endParaRPr>
          </a:p>
          <a:p>
            <a:pPr algn="just">
              <a:lnSpc>
                <a:spcPct val="150000"/>
              </a:lnSpc>
            </a:pPr>
            <a:r>
              <a:rPr lang="en-IN" sz="2200" dirty="0">
                <a:latin typeface="Times New Roman" panose="02020603050405020304" pitchFamily="18" charset="0"/>
              </a:rPr>
              <a:t>Libraries – </a:t>
            </a:r>
            <a:r>
              <a:rPr lang="en-IN" sz="2200" dirty="0" err="1">
                <a:latin typeface="Times New Roman" panose="02020603050405020304" pitchFamily="18" charset="0"/>
              </a:rPr>
              <a:t>OpenCV</a:t>
            </a:r>
            <a:r>
              <a:rPr lang="en-IN" sz="2200" dirty="0">
                <a:latin typeface="Times New Roman" panose="02020603050405020304" pitchFamily="18" charset="0"/>
              </a:rPr>
              <a:t>, </a:t>
            </a:r>
            <a:r>
              <a:rPr lang="en-IN" sz="2200" dirty="0" err="1">
                <a:latin typeface="Times New Roman" panose="02020603050405020304" pitchFamily="18" charset="0"/>
              </a:rPr>
              <a:t>NumPy</a:t>
            </a:r>
            <a:r>
              <a:rPr lang="en-IN" sz="2200" dirty="0">
                <a:latin typeface="Times New Roman" panose="02020603050405020304" pitchFamily="18" charset="0"/>
              </a:rPr>
              <a:t>, Pandas, </a:t>
            </a:r>
            <a:r>
              <a:rPr lang="en-IN" sz="2200" dirty="0" err="1">
                <a:latin typeface="Times New Roman" panose="02020603050405020304" pitchFamily="18" charset="0"/>
              </a:rPr>
              <a:t>Matplotlib</a:t>
            </a:r>
            <a:r>
              <a:rPr lang="en-IN" sz="2200" dirty="0">
                <a:latin typeface="Times New Roman" panose="02020603050405020304" pitchFamily="18" charset="0"/>
              </a:rPr>
              <a:t>, </a:t>
            </a:r>
            <a:r>
              <a:rPr lang="en-IN" sz="2200" dirty="0" err="1">
                <a:latin typeface="Times New Roman" panose="02020603050405020304" pitchFamily="18" charset="0"/>
              </a:rPr>
              <a:t>scikit</a:t>
            </a:r>
            <a:r>
              <a:rPr lang="en-IN" sz="2200" dirty="0">
                <a:latin typeface="Times New Roman" panose="02020603050405020304" pitchFamily="18" charset="0"/>
              </a:rPr>
              <a:t>-learn </a:t>
            </a:r>
          </a:p>
          <a:p>
            <a:pPr algn="just">
              <a:lnSpc>
                <a:spcPct val="150000"/>
              </a:lnSpc>
            </a:pPr>
            <a:r>
              <a:rPr lang="en-IN" sz="2200" dirty="0">
                <a:latin typeface="Times New Roman" panose="02020603050405020304" pitchFamily="18" charset="0"/>
              </a:rPr>
              <a:t>IDE/Editor – </a:t>
            </a:r>
            <a:r>
              <a:rPr lang="en-IN" sz="2200" dirty="0" err="1">
                <a:latin typeface="Times New Roman" panose="02020603050405020304" pitchFamily="18" charset="0"/>
              </a:rPr>
              <a:t>Juptyer</a:t>
            </a:r>
            <a:r>
              <a:rPr lang="en-IN" sz="2200" dirty="0">
                <a:latin typeface="Times New Roman" panose="02020603050405020304" pitchFamily="18" charset="0"/>
              </a:rPr>
              <a:t>.</a:t>
            </a:r>
            <a:endParaRPr lang="en-IN" sz="2200" dirty="0"/>
          </a:p>
        </p:txBody>
      </p:sp>
      <p:sp>
        <p:nvSpPr>
          <p:cNvPr id="2" name="Slide Number Placeholder 1"/>
          <p:cNvSpPr>
            <a:spLocks noGrp="1"/>
          </p:cNvSpPr>
          <p:nvPr>
            <p:ph type="sldNum" sz="quarter" idx="12"/>
          </p:nvPr>
        </p:nvSpPr>
        <p:spPr/>
        <p:txBody>
          <a:bodyPr/>
          <a:lstStyle/>
          <a:p>
            <a:fld id="{86CB4B4D-7CA3-9044-876B-883B54F8677D}" type="slidenum">
              <a:rPr lang="en-IN" smtClean="0"/>
              <a:t>16</a:t>
            </a:fld>
            <a:endParaRPr lang="en-IN"/>
          </a:p>
        </p:txBody>
      </p:sp>
      <p:sp>
        <p:nvSpPr>
          <p:cNvPr id="3" name="TextBox 2"/>
          <p:cNvSpPr txBox="1"/>
          <p:nvPr/>
        </p:nvSpPr>
        <p:spPr>
          <a:xfrm>
            <a:off x="3646932" y="16347"/>
            <a:ext cx="6784848"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r>
              <a:rPr lang="en-US" dirty="0">
                <a:solidFill>
                  <a:schemeClr val="tx2"/>
                </a:solidFill>
              </a:rPr>
              <a:t>Non – Invasive Blood Group Detection Using Fingerprints</a:t>
            </a:r>
            <a:endParaRPr lang="en-IN" dirty="0">
              <a:solidFill>
                <a:schemeClr val="tx2"/>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856343" y="385677"/>
            <a:ext cx="9144000" cy="1323853"/>
          </a:xfrm>
        </p:spPr>
        <p:txBody>
          <a:bodyPr>
            <a:normAutofit fontScale="90000"/>
          </a:bodyPr>
          <a:lstStyle/>
          <a:p>
            <a:br>
              <a:rPr lang="en-US" sz="3600" b="1" dirty="0">
                <a:latin typeface="Times New Roman" panose="02020603050405020304" pitchFamily="18" charset="0"/>
                <a:cs typeface="Times New Roman" panose="02020603050405020304" pitchFamily="18" charset="0"/>
              </a:rPr>
            </a:br>
            <a:br>
              <a:rPr lang="en-US" sz="3600" b="1" dirty="0">
                <a:latin typeface="Times New Roman" panose="02020603050405020304" pitchFamily="18" charset="0"/>
                <a:cs typeface="Times New Roman" panose="02020603050405020304" pitchFamily="18" charset="0"/>
              </a:rPr>
            </a:br>
            <a:br>
              <a:rPr lang="en-US" sz="3600" b="1" dirty="0">
                <a:latin typeface="Times New Roman" panose="02020603050405020304" pitchFamily="18" charset="0"/>
                <a:cs typeface="Times New Roman" panose="02020603050405020304" pitchFamily="18" charset="0"/>
              </a:rPr>
            </a:br>
            <a:br>
              <a:rPr lang="en-US" sz="3600" b="1" dirty="0">
                <a:latin typeface="Times New Roman" panose="02020603050405020304" pitchFamily="18" charset="0"/>
                <a:cs typeface="Times New Roman" panose="02020603050405020304" pitchFamily="18" charset="0"/>
              </a:rPr>
            </a:br>
            <a:br>
              <a:rPr lang="en-US" sz="3600" b="1" dirty="0">
                <a:latin typeface="Times New Roman" panose="02020603050405020304" pitchFamily="18" charset="0"/>
                <a:cs typeface="Times New Roman" panose="02020603050405020304" pitchFamily="18" charset="0"/>
              </a:rPr>
            </a:br>
            <a:br>
              <a:rPr lang="en-US" sz="3600" b="1" dirty="0">
                <a:latin typeface="Times New Roman" panose="02020603050405020304" pitchFamily="18" charset="0"/>
                <a:cs typeface="Times New Roman" panose="02020603050405020304" pitchFamily="18" charset="0"/>
              </a:rPr>
            </a:br>
            <a:br>
              <a:rPr lang="en-US" sz="3600" b="1" dirty="0">
                <a:latin typeface="Times New Roman" panose="02020603050405020304" pitchFamily="18" charset="0"/>
                <a:cs typeface="Times New Roman" panose="02020603050405020304" pitchFamily="18" charset="0"/>
              </a:rPr>
            </a:br>
            <a:br>
              <a:rPr lang="en-US" sz="3600" b="1" dirty="0">
                <a:latin typeface="Times New Roman" panose="02020603050405020304" pitchFamily="18" charset="0"/>
                <a:cs typeface="Times New Roman" panose="02020603050405020304" pitchFamily="18" charset="0"/>
              </a:rPr>
            </a:br>
            <a:br>
              <a:rPr lang="en-US" sz="3600" b="1" dirty="0">
                <a:latin typeface="Times New Roman" panose="02020603050405020304" pitchFamily="18" charset="0"/>
                <a:cs typeface="Times New Roman" panose="02020603050405020304" pitchFamily="18" charset="0"/>
              </a:rPr>
            </a:br>
            <a:br>
              <a:rPr lang="en-US" sz="3600" b="1" dirty="0">
                <a:latin typeface="Times New Roman" panose="02020603050405020304" pitchFamily="18" charset="0"/>
                <a:cs typeface="Times New Roman" panose="02020603050405020304" pitchFamily="18" charset="0"/>
              </a:rPr>
            </a:br>
            <a:br>
              <a:rPr lang="en-US" sz="3600" b="1" dirty="0">
                <a:latin typeface="Times New Roman" panose="02020603050405020304" pitchFamily="18" charset="0"/>
                <a:cs typeface="Times New Roman" panose="02020603050405020304" pitchFamily="18" charset="0"/>
              </a:rPr>
            </a:br>
            <a:br>
              <a:rPr lang="en-US" sz="3600" b="1" dirty="0">
                <a:latin typeface="Times New Roman" panose="02020603050405020304" pitchFamily="18" charset="0"/>
                <a:cs typeface="Times New Roman" panose="02020603050405020304" pitchFamily="18" charset="0"/>
              </a:rPr>
            </a:br>
            <a:br>
              <a:rPr lang="en-US" sz="3600" b="1" dirty="0">
                <a:latin typeface="Times New Roman" panose="02020603050405020304" pitchFamily="18" charset="0"/>
                <a:cs typeface="Times New Roman" panose="02020603050405020304" pitchFamily="18" charset="0"/>
              </a:rPr>
            </a:br>
            <a:br>
              <a:rPr lang="en-US" sz="3600" b="1" dirty="0">
                <a:latin typeface="Times New Roman" panose="02020603050405020304" pitchFamily="18" charset="0"/>
                <a:cs typeface="Times New Roman" panose="02020603050405020304" pitchFamily="18" charset="0"/>
              </a:rPr>
            </a:br>
            <a:br>
              <a:rPr lang="en-US" sz="3600" b="1" dirty="0">
                <a:latin typeface="Times New Roman" panose="02020603050405020304" pitchFamily="18" charset="0"/>
                <a:cs typeface="Times New Roman" panose="02020603050405020304" pitchFamily="18" charset="0"/>
              </a:rPr>
            </a:br>
            <a:r>
              <a:rPr lang="en-US" sz="3600" b="1" dirty="0">
                <a:latin typeface="Times New Roman" panose="02020603050405020304" pitchFamily="18" charset="0"/>
                <a:cs typeface="Times New Roman" panose="02020603050405020304" pitchFamily="18" charset="0"/>
              </a:rPr>
              <a:t>System Design</a:t>
            </a:r>
            <a:br>
              <a:rPr lang="en-US" sz="3600" b="1" dirty="0">
                <a:latin typeface="Times New Roman" panose="02020603050405020304" pitchFamily="18" charset="0"/>
                <a:cs typeface="Times New Roman" panose="02020603050405020304" pitchFamily="18" charset="0"/>
              </a:rPr>
            </a:br>
            <a:br>
              <a:rPr lang="en-US" sz="3600" b="1" dirty="0">
                <a:latin typeface="Times New Roman" panose="02020603050405020304" pitchFamily="18" charset="0"/>
                <a:cs typeface="Times New Roman" panose="02020603050405020304" pitchFamily="18" charset="0"/>
              </a:rPr>
            </a:br>
            <a:endParaRPr lang="en-US" sz="3600" b="1" dirty="0">
              <a:latin typeface="Times New Roman" panose="02020603050405020304" pitchFamily="18" charset="0"/>
              <a:cs typeface="Times New Roman" panose="02020603050405020304" pitchFamily="18" charset="0"/>
            </a:endParaRPr>
          </a:p>
        </p:txBody>
      </p:sp>
      <p:sp>
        <p:nvSpPr>
          <p:cNvPr id="7" name="Slide Number Placeholder 6"/>
          <p:cNvSpPr>
            <a:spLocks noGrp="1"/>
          </p:cNvSpPr>
          <p:nvPr>
            <p:ph type="sldNum" sz="quarter" idx="12"/>
          </p:nvPr>
        </p:nvSpPr>
        <p:spPr/>
        <p:txBody>
          <a:bodyPr/>
          <a:lstStyle/>
          <a:p>
            <a:fld id="{86CB4B4D-7CA3-9044-876B-883B54F8677D}" type="slidenum">
              <a:rPr lang="en-IN" smtClean="0"/>
              <a:t>17</a:t>
            </a:fld>
            <a:endParaRPr lang="en-IN"/>
          </a:p>
        </p:txBody>
      </p:sp>
      <p:sp>
        <p:nvSpPr>
          <p:cNvPr id="8" name="TextBox 7"/>
          <p:cNvSpPr txBox="1"/>
          <p:nvPr/>
        </p:nvSpPr>
        <p:spPr>
          <a:xfrm>
            <a:off x="3646932" y="16347"/>
            <a:ext cx="6784848"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r>
              <a:rPr lang="en-US" dirty="0">
                <a:solidFill>
                  <a:schemeClr val="tx2"/>
                </a:solidFill>
              </a:rPr>
              <a:t>Non – Invasive Blood Group Detection Using Fingerprints</a:t>
            </a:r>
            <a:endParaRPr lang="en-IN" dirty="0">
              <a:solidFill>
                <a:schemeClr val="tx2"/>
              </a:solidFill>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822" y="3644449"/>
            <a:ext cx="11553372" cy="3555999"/>
          </a:xfrm>
          <a:prstGeom prst="rect">
            <a:avLst/>
          </a:prstGeom>
        </p:spPr>
      </p:pic>
      <p:pic>
        <p:nvPicPr>
          <p:cNvPr id="5" name="Picture 4">
            <a:extLst>
              <a:ext uri="{FF2B5EF4-FFF2-40B4-BE49-F238E27FC236}">
                <a16:creationId xmlns:a16="http://schemas.microsoft.com/office/drawing/2014/main" id="{C3FBC572-EEF3-1257-E7DA-E4CA2B657A30}"/>
              </a:ext>
            </a:extLst>
          </p:cNvPr>
          <p:cNvPicPr>
            <a:picLocks noChangeAspect="1"/>
          </p:cNvPicPr>
          <p:nvPr/>
        </p:nvPicPr>
        <p:blipFill>
          <a:blip r:embed="rId3"/>
          <a:srcRect l="26495" t="31852" r="32011" b="44262"/>
          <a:stretch>
            <a:fillRect/>
          </a:stretch>
        </p:blipFill>
        <p:spPr>
          <a:xfrm>
            <a:off x="3250094" y="2236409"/>
            <a:ext cx="5059019" cy="1638120"/>
          </a:xfrm>
          <a:prstGeom prst="rect">
            <a:avLst/>
          </a:prstGeom>
        </p:spPr>
      </p:pic>
      <p:sp>
        <p:nvSpPr>
          <p:cNvPr id="6" name="TextBox 5">
            <a:extLst>
              <a:ext uri="{FF2B5EF4-FFF2-40B4-BE49-F238E27FC236}">
                <a16:creationId xmlns:a16="http://schemas.microsoft.com/office/drawing/2014/main" id="{0C4D028F-7D55-2672-91CB-91929605F15D}"/>
              </a:ext>
            </a:extLst>
          </p:cNvPr>
          <p:cNvSpPr txBox="1"/>
          <p:nvPr/>
        </p:nvSpPr>
        <p:spPr>
          <a:xfrm>
            <a:off x="8610600" y="3161299"/>
            <a:ext cx="2122667" cy="369332"/>
          </a:xfrm>
          <a:prstGeom prst="rect">
            <a:avLst/>
          </a:prstGeom>
          <a:noFill/>
        </p:spPr>
        <p:txBody>
          <a:bodyPr wrap="square" rtlCol="0">
            <a:spAutoFit/>
          </a:bodyPr>
          <a:lstStyle/>
          <a:p>
            <a:r>
              <a:rPr lang="en-US" dirty="0"/>
              <a:t>Level 0</a:t>
            </a:r>
            <a:endParaRPr lang="en-IN" dirty="0"/>
          </a:p>
        </p:txBody>
      </p:sp>
      <p:sp>
        <p:nvSpPr>
          <p:cNvPr id="9" name="TextBox 8">
            <a:extLst>
              <a:ext uri="{FF2B5EF4-FFF2-40B4-BE49-F238E27FC236}">
                <a16:creationId xmlns:a16="http://schemas.microsoft.com/office/drawing/2014/main" id="{F702FB5A-FBB5-9117-FB77-E9DBA8162B03}"/>
              </a:ext>
            </a:extLst>
          </p:cNvPr>
          <p:cNvSpPr txBox="1"/>
          <p:nvPr/>
        </p:nvSpPr>
        <p:spPr>
          <a:xfrm>
            <a:off x="9004852" y="6356350"/>
            <a:ext cx="1520687" cy="369332"/>
          </a:xfrm>
          <a:prstGeom prst="rect">
            <a:avLst/>
          </a:prstGeom>
          <a:noFill/>
        </p:spPr>
        <p:txBody>
          <a:bodyPr wrap="square" rtlCol="0">
            <a:spAutoFit/>
          </a:bodyPr>
          <a:lstStyle/>
          <a:p>
            <a:r>
              <a:rPr lang="en-US" dirty="0"/>
              <a:t>Level 1</a:t>
            </a:r>
            <a:endParaRPr lang="en-IN" dirty="0"/>
          </a:p>
        </p:txBody>
      </p:sp>
      <p:sp>
        <p:nvSpPr>
          <p:cNvPr id="10" name="TextBox 9">
            <a:extLst>
              <a:ext uri="{FF2B5EF4-FFF2-40B4-BE49-F238E27FC236}">
                <a16:creationId xmlns:a16="http://schemas.microsoft.com/office/drawing/2014/main" id="{BEAA4064-8F6D-C31A-8E74-589495E2B8A0}"/>
              </a:ext>
            </a:extLst>
          </p:cNvPr>
          <p:cNvSpPr txBox="1"/>
          <p:nvPr/>
        </p:nvSpPr>
        <p:spPr>
          <a:xfrm>
            <a:off x="3646932" y="1558044"/>
            <a:ext cx="4841085" cy="646331"/>
          </a:xfrm>
          <a:prstGeom prst="rect">
            <a:avLst/>
          </a:prstGeom>
          <a:noFill/>
        </p:spPr>
        <p:txBody>
          <a:bodyPr wrap="square" rtlCol="0">
            <a:spAutoFit/>
          </a:bodyPr>
          <a:lstStyle/>
          <a:p>
            <a:r>
              <a:rPr lang="en-US" sz="3600" b="1" dirty="0">
                <a:latin typeface="Times New Roman" panose="02020603050405020304" pitchFamily="18" charset="0"/>
                <a:cs typeface="Times New Roman" panose="02020603050405020304" pitchFamily="18" charset="0"/>
              </a:rPr>
              <a:t>Data Flow Diagram</a:t>
            </a:r>
            <a:endParaRPr lang="en-IN" sz="36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1524000" y="1122363"/>
            <a:ext cx="9144000" cy="866094"/>
          </a:xfrm>
        </p:spPr>
        <p:txBody>
          <a:bodyPr>
            <a:normAutofit/>
          </a:bodyPr>
          <a:lstStyle/>
          <a:p>
            <a:r>
              <a:rPr lang="en-US" sz="3600" b="1" dirty="0">
                <a:latin typeface="Times New Roman" panose="02020603050405020304" pitchFamily="18" charset="0"/>
                <a:cs typeface="Times New Roman" panose="02020603050405020304" pitchFamily="18" charset="0"/>
              </a:rPr>
              <a:t>Use case Diagram</a:t>
            </a:r>
          </a:p>
        </p:txBody>
      </p:sp>
      <p:sp>
        <p:nvSpPr>
          <p:cNvPr id="2" name="Slide Number Placeholder 1"/>
          <p:cNvSpPr>
            <a:spLocks noGrp="1"/>
          </p:cNvSpPr>
          <p:nvPr>
            <p:ph type="sldNum" sz="quarter" idx="12"/>
          </p:nvPr>
        </p:nvSpPr>
        <p:spPr/>
        <p:txBody>
          <a:bodyPr/>
          <a:lstStyle/>
          <a:p>
            <a:fld id="{86CB4B4D-7CA3-9044-876B-883B54F8677D}" type="slidenum">
              <a:rPr lang="en-IN" smtClean="0"/>
              <a:t>18</a:t>
            </a:fld>
            <a:endParaRPr lang="en-IN"/>
          </a:p>
        </p:txBody>
      </p:sp>
      <p:sp>
        <p:nvSpPr>
          <p:cNvPr id="3" name="TextBox 2"/>
          <p:cNvSpPr txBox="1"/>
          <p:nvPr/>
        </p:nvSpPr>
        <p:spPr>
          <a:xfrm>
            <a:off x="3646932" y="16347"/>
            <a:ext cx="6784848"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r>
              <a:rPr lang="en-US" dirty="0">
                <a:solidFill>
                  <a:schemeClr val="tx2"/>
                </a:solidFill>
              </a:rPr>
              <a:t>Non – Invasive Blood Group Detection Using Fingerprints</a:t>
            </a:r>
            <a:endParaRPr lang="en-IN" dirty="0">
              <a:solidFill>
                <a:schemeClr val="tx2"/>
              </a:solidFill>
            </a:endParaRPr>
          </a:p>
        </p:txBody>
      </p:sp>
      <p:pic>
        <p:nvPicPr>
          <p:cNvPr id="6" name="Picture 5">
            <a:extLst>
              <a:ext uri="{FF2B5EF4-FFF2-40B4-BE49-F238E27FC236}">
                <a16:creationId xmlns:a16="http://schemas.microsoft.com/office/drawing/2014/main" id="{AFBA2653-5C97-EF15-F7D6-01772E85329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86099" y="2721428"/>
            <a:ext cx="6067839" cy="290195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Diagrams:…"/>
          <p:cNvSpPr txBox="1">
            <a:spLocks noGrp="1"/>
          </p:cNvSpPr>
          <p:nvPr>
            <p:ph type="title"/>
          </p:nvPr>
        </p:nvSpPr>
        <p:spPr>
          <a:prstGeom prst="rect">
            <a:avLst/>
          </a:prstGeom>
        </p:spPr>
        <p:txBody>
          <a:bodyPr>
            <a:normAutofit/>
          </a:bodyPr>
          <a:lstStyle/>
          <a:p>
            <a:pPr defTabSz="585470">
              <a:defRPr sz="2495" b="1">
                <a:latin typeface="Times New Roman" panose="02020603050405020304"/>
                <a:ea typeface="Times New Roman" panose="02020603050405020304"/>
                <a:cs typeface="Times New Roman" panose="02020603050405020304"/>
                <a:sym typeface="Times New Roman" panose="02020603050405020304"/>
              </a:defRPr>
            </a:pPr>
            <a:r>
              <a:rPr lang="en-US" sz="4000" dirty="0"/>
              <a:t>Context Diagram</a:t>
            </a:r>
            <a:endParaRPr sz="4000" dirty="0"/>
          </a:p>
        </p:txBody>
      </p:sp>
      <p:sp>
        <p:nvSpPr>
          <p:cNvPr id="7" name="Slide Number Placeholder 6"/>
          <p:cNvSpPr>
            <a:spLocks noGrp="1"/>
          </p:cNvSpPr>
          <p:nvPr>
            <p:ph type="sldNum" sz="quarter" idx="12"/>
          </p:nvPr>
        </p:nvSpPr>
        <p:spPr/>
        <p:txBody>
          <a:bodyPr/>
          <a:lstStyle/>
          <a:p>
            <a:fld id="{86CB4B4D-7CA3-9044-876B-883B54F8677D}" type="slidenum">
              <a:rPr lang="en-IN" smtClean="0"/>
              <a:t>19</a:t>
            </a:fld>
            <a:endParaRPr lang="en-IN"/>
          </a:p>
        </p:txBody>
      </p:sp>
      <p:sp>
        <p:nvSpPr>
          <p:cNvPr id="8" name="TextBox 7"/>
          <p:cNvSpPr txBox="1"/>
          <p:nvPr/>
        </p:nvSpPr>
        <p:spPr>
          <a:xfrm>
            <a:off x="3646932" y="59889"/>
            <a:ext cx="6784848"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r>
              <a:rPr lang="en-US" dirty="0">
                <a:solidFill>
                  <a:schemeClr val="tx2"/>
                </a:solidFill>
              </a:rPr>
              <a:t>Non – Invasive Blood Group Detection Using Fingerprints</a:t>
            </a:r>
            <a:endParaRPr lang="en-IN" dirty="0">
              <a:solidFill>
                <a:schemeClr val="tx2"/>
              </a:solidFill>
            </a:endParaRP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69256" y="2220686"/>
            <a:ext cx="10711543" cy="37592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624114"/>
            <a:ext cx="10515600" cy="783772"/>
          </a:xfrm>
        </p:spPr>
        <p:txBody>
          <a:bodyPr>
            <a:normAutofit/>
          </a:bodyPr>
          <a:lstStyle/>
          <a:p>
            <a:pPr algn="ctr"/>
            <a:r>
              <a:rPr lang="en-US" sz="3600" b="1" dirty="0">
                <a:latin typeface="Times New Roman" panose="02020603050405020304" pitchFamily="18" charset="0"/>
                <a:cs typeface="Times New Roman" panose="02020603050405020304" pitchFamily="18" charset="0"/>
              </a:rPr>
              <a:t>Sequence Diagram</a:t>
            </a:r>
          </a:p>
        </p:txBody>
      </p:sp>
      <p:pic>
        <p:nvPicPr>
          <p:cNvPr id="7" name="Content Placeholder 6">
            <a:extLst>
              <a:ext uri="{FF2B5EF4-FFF2-40B4-BE49-F238E27FC236}">
                <a16:creationId xmlns:a16="http://schemas.microsoft.com/office/drawing/2014/main" id="{7DEB859D-A63D-9419-C5D1-FBC257FDFD38}"/>
              </a:ext>
            </a:extLst>
          </p:cNvPr>
          <p:cNvPicPr>
            <a:picLocks noGrp="1" noChangeAspect="1"/>
          </p:cNvPicPr>
          <p:nvPr>
            <p:ph idx="1"/>
          </p:nvPr>
        </p:nvPicPr>
        <p:blipFill>
          <a:blip r:embed="rId2"/>
          <a:stretch>
            <a:fillRect/>
          </a:stretch>
        </p:blipFill>
        <p:spPr>
          <a:xfrm>
            <a:off x="2752054" y="2803326"/>
            <a:ext cx="6687892" cy="2395936"/>
          </a:xfrm>
          <a:prstGeom prst="rect">
            <a:avLst/>
          </a:prstGeom>
        </p:spPr>
      </p:pic>
      <p:sp>
        <p:nvSpPr>
          <p:cNvPr id="2" name="Slide Number Placeholder 1"/>
          <p:cNvSpPr>
            <a:spLocks noGrp="1"/>
          </p:cNvSpPr>
          <p:nvPr>
            <p:ph type="sldNum" sz="quarter" idx="12"/>
          </p:nvPr>
        </p:nvSpPr>
        <p:spPr/>
        <p:txBody>
          <a:bodyPr/>
          <a:lstStyle/>
          <a:p>
            <a:fld id="{86CB4B4D-7CA3-9044-876B-883B54F8677D}" type="slidenum">
              <a:rPr lang="en-IN" smtClean="0"/>
              <a:t>20</a:t>
            </a:fld>
            <a:endParaRPr lang="en-IN"/>
          </a:p>
        </p:txBody>
      </p:sp>
      <p:sp>
        <p:nvSpPr>
          <p:cNvPr id="3" name="TextBox 2"/>
          <p:cNvSpPr txBox="1"/>
          <p:nvPr/>
        </p:nvSpPr>
        <p:spPr>
          <a:xfrm>
            <a:off x="3646932" y="16347"/>
            <a:ext cx="6784848"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r>
              <a:rPr lang="en-US" dirty="0">
                <a:solidFill>
                  <a:schemeClr val="tx2"/>
                </a:solidFill>
              </a:rPr>
              <a:t>Non – Invasive Blood Group Detection Using Fingerprints</a:t>
            </a:r>
            <a:endParaRPr lang="en-IN" dirty="0">
              <a:solidFill>
                <a:schemeClr val="tx2"/>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2295" y="0"/>
            <a:ext cx="10515600" cy="1325563"/>
          </a:xfrm>
        </p:spPr>
        <p:txBody>
          <a:bodyPr>
            <a:normAutofit/>
          </a:bodyPr>
          <a:lstStyle/>
          <a:p>
            <a:r>
              <a:rPr lang="en-US" sz="3600" b="1" dirty="0">
                <a:latin typeface="Times New Roman" panose="02020603050405020304" pitchFamily="18" charset="0"/>
                <a:cs typeface="Times New Roman" panose="02020603050405020304" pitchFamily="18" charset="0"/>
              </a:rPr>
              <a:t>Implementation of modules</a:t>
            </a:r>
          </a:p>
        </p:txBody>
      </p:sp>
      <p:sp>
        <p:nvSpPr>
          <p:cNvPr id="3" name="Text Placeholder 2"/>
          <p:cNvSpPr>
            <a:spLocks noGrp="1"/>
          </p:cNvSpPr>
          <p:nvPr>
            <p:ph idx="1"/>
          </p:nvPr>
        </p:nvSpPr>
        <p:spPr>
          <a:xfrm>
            <a:off x="582295" y="934085"/>
            <a:ext cx="11026775" cy="5422265"/>
          </a:xfrm>
        </p:spPr>
        <p:txBody>
          <a:bodyPr>
            <a:noAutofit/>
          </a:bodyPr>
          <a:lstStyle/>
          <a:p>
            <a:pPr marL="0" indent="0">
              <a:buNone/>
            </a:pPr>
            <a:endParaRPr lang="en-US" altLang="en-US" sz="2200" b="1" dirty="0"/>
          </a:p>
          <a:p>
            <a:pPr marL="0" indent="0">
              <a:buNone/>
            </a:pPr>
            <a:r>
              <a:rPr lang="en-US" altLang="en-US" sz="2200" b="1" dirty="0"/>
              <a:t>1. Image Acquisition Module</a:t>
            </a:r>
          </a:p>
          <a:p>
            <a:r>
              <a:rPr lang="en-US" altLang="en-US" sz="2200" dirty="0"/>
              <a:t>Captures fingerprint images from users.</a:t>
            </a:r>
          </a:p>
          <a:p>
            <a:r>
              <a:rPr lang="en-US" altLang="en-US" sz="2200" dirty="0"/>
              <a:t>Ensures consistent lighting, proper finger placement, and good ridge clarity.</a:t>
            </a:r>
          </a:p>
          <a:p>
            <a:r>
              <a:rPr lang="en-US" altLang="en-US" sz="2200" dirty="0"/>
              <a:t>Provides the raw input required for preprocessing and model training.</a:t>
            </a:r>
          </a:p>
          <a:p>
            <a:pPr marL="0" indent="0">
              <a:buNone/>
            </a:pPr>
            <a:r>
              <a:rPr lang="en-IN" altLang="en-US" sz="2200" b="1" dirty="0"/>
              <a:t>2.</a:t>
            </a:r>
            <a:r>
              <a:rPr lang="en-US" altLang="en-US" sz="2200" b="1" dirty="0"/>
              <a:t>Preprocessing Module</a:t>
            </a:r>
          </a:p>
          <a:p>
            <a:r>
              <a:rPr lang="en-US" altLang="en-US" sz="2200" dirty="0"/>
              <a:t>Resizes all fingerprint images to a standard dimension suitable for CNN models.</a:t>
            </a:r>
          </a:p>
          <a:p>
            <a:r>
              <a:rPr lang="en-US" altLang="en-US" sz="2200" dirty="0"/>
              <a:t>Applies noise reduction filters (Gaussian/Median) to remove distortions.</a:t>
            </a:r>
          </a:p>
          <a:p>
            <a:r>
              <a:rPr lang="en-US" altLang="en-US" sz="2200" dirty="0"/>
              <a:t>Enhances contrast to improve ridge and valley visibility.</a:t>
            </a:r>
          </a:p>
          <a:p>
            <a:r>
              <a:rPr lang="en-US" altLang="en-US" sz="2200" dirty="0"/>
              <a:t>Performs normalization to standardize pixel ranges.</a:t>
            </a:r>
          </a:p>
          <a:p>
            <a:r>
              <a:rPr lang="en-US" altLang="en-US" sz="2200" dirty="0"/>
              <a:t>Includes data augmentation like rotation, flipping, and scaling to increase dataset variety and prevent overfitting.</a:t>
            </a:r>
          </a:p>
        </p:txBody>
      </p:sp>
      <p:sp>
        <p:nvSpPr>
          <p:cNvPr id="4" name="Slide Number Placeholder 3"/>
          <p:cNvSpPr>
            <a:spLocks noGrp="1"/>
          </p:cNvSpPr>
          <p:nvPr>
            <p:ph type="sldNum" sz="quarter" idx="12"/>
          </p:nvPr>
        </p:nvSpPr>
        <p:spPr/>
        <p:txBody>
          <a:bodyPr/>
          <a:lstStyle/>
          <a:p>
            <a:fld id="{86CB4B4D-7CA3-9044-876B-883B54F8677D}" type="slidenum">
              <a:rPr lang="en-US" smtClean="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2150" y="0"/>
            <a:ext cx="10515600" cy="1325563"/>
          </a:xfrm>
        </p:spPr>
        <p:txBody>
          <a:bodyPr/>
          <a:lstStyle/>
          <a:p>
            <a:endParaRPr lang="en-US"/>
          </a:p>
        </p:txBody>
      </p:sp>
      <p:sp>
        <p:nvSpPr>
          <p:cNvPr id="3" name="Content Placeholder 2"/>
          <p:cNvSpPr>
            <a:spLocks noGrp="1"/>
          </p:cNvSpPr>
          <p:nvPr>
            <p:ph idx="1"/>
          </p:nvPr>
        </p:nvSpPr>
        <p:spPr>
          <a:xfrm>
            <a:off x="327991" y="-149087"/>
            <a:ext cx="10697818" cy="6045614"/>
          </a:xfrm>
        </p:spPr>
        <p:txBody>
          <a:bodyPr>
            <a:noAutofit/>
          </a:bodyPr>
          <a:lstStyle/>
          <a:p>
            <a:pPr marL="0" indent="0">
              <a:buNone/>
            </a:pPr>
            <a:endParaRPr lang="en-US" altLang="en-US" sz="2200" b="1" dirty="0">
              <a:latin typeface="Times New Roman" panose="02020603050405020304" pitchFamily="18" charset="0"/>
              <a:cs typeface="Times New Roman" panose="02020603050405020304" pitchFamily="18" charset="0"/>
            </a:endParaRPr>
          </a:p>
          <a:p>
            <a:pPr marL="0" indent="0">
              <a:buNone/>
            </a:pPr>
            <a:r>
              <a:rPr lang="en-IN" altLang="en-US" sz="2200" b="1" dirty="0">
                <a:latin typeface="Times New Roman" panose="02020603050405020304" pitchFamily="18" charset="0"/>
                <a:cs typeface="Times New Roman" panose="02020603050405020304" pitchFamily="18" charset="0"/>
              </a:rPr>
              <a:t>3.</a:t>
            </a:r>
            <a:r>
              <a:rPr lang="en-US" altLang="en-US" sz="2200" b="1" dirty="0">
                <a:latin typeface="Times New Roman" panose="02020603050405020304" pitchFamily="18" charset="0"/>
                <a:cs typeface="Times New Roman" panose="02020603050405020304" pitchFamily="18" charset="0"/>
              </a:rPr>
              <a:t>CNN Feature Extraction &amp; Classification Module</a:t>
            </a:r>
          </a:p>
          <a:p>
            <a:r>
              <a:rPr lang="en-US" altLang="en-US" sz="2200" dirty="0">
                <a:latin typeface="Times New Roman" panose="02020603050405020304" pitchFamily="18" charset="0"/>
                <a:cs typeface="Times New Roman" panose="02020603050405020304" pitchFamily="18" charset="0"/>
              </a:rPr>
              <a:t>Uses CNN architectures such as </a:t>
            </a:r>
            <a:r>
              <a:rPr lang="en-US" altLang="en-US" sz="2200" dirty="0" err="1">
                <a:latin typeface="Times New Roman" panose="02020603050405020304" pitchFamily="18" charset="0"/>
                <a:cs typeface="Times New Roman" panose="02020603050405020304" pitchFamily="18" charset="0"/>
              </a:rPr>
              <a:t>ResNet</a:t>
            </a:r>
            <a:r>
              <a:rPr lang="en-US" altLang="en-US" sz="2200" dirty="0">
                <a:latin typeface="Times New Roman" panose="02020603050405020304" pitchFamily="18" charset="0"/>
                <a:cs typeface="Times New Roman" panose="02020603050405020304" pitchFamily="18" charset="0"/>
              </a:rPr>
              <a:t> to automatically extract deep fingerprint features.</a:t>
            </a:r>
          </a:p>
          <a:p>
            <a:r>
              <a:rPr lang="en-US" altLang="en-US" sz="2200" dirty="0">
                <a:latin typeface="Times New Roman" panose="02020603050405020304" pitchFamily="18" charset="0"/>
                <a:cs typeface="Times New Roman" panose="02020603050405020304" pitchFamily="18" charset="0"/>
              </a:rPr>
              <a:t>Learns ridge flow, ridge texture, and other distinguishing fingerprint characteristics.</a:t>
            </a:r>
          </a:p>
          <a:p>
            <a:r>
              <a:rPr lang="en-US" altLang="en-US" sz="2200" dirty="0">
                <a:latin typeface="Times New Roman" panose="02020603050405020304" pitchFamily="18" charset="0"/>
                <a:cs typeface="Times New Roman" panose="02020603050405020304" pitchFamily="18" charset="0"/>
              </a:rPr>
              <a:t>Trains the model using labeled fingerprint data across all blood groups (A, B, O, AB, Rh+/).</a:t>
            </a:r>
          </a:p>
          <a:p>
            <a:r>
              <a:rPr lang="en-US" altLang="en-US" sz="2200" dirty="0">
                <a:latin typeface="Times New Roman" panose="02020603050405020304" pitchFamily="18" charset="0"/>
                <a:cs typeface="Times New Roman" panose="02020603050405020304" pitchFamily="18" charset="0"/>
              </a:rPr>
              <a:t>The final classification layer predicts the blood group based on learned patterns.</a:t>
            </a:r>
          </a:p>
          <a:p>
            <a:pPr marL="0" indent="0">
              <a:buNone/>
            </a:pPr>
            <a:endParaRPr lang="en-US" altLang="en-US" sz="2200" dirty="0">
              <a:latin typeface="Times New Roman" panose="02020603050405020304" pitchFamily="18" charset="0"/>
              <a:cs typeface="Times New Roman" panose="02020603050405020304" pitchFamily="18" charset="0"/>
            </a:endParaRPr>
          </a:p>
          <a:p>
            <a:pPr marL="0" indent="0">
              <a:buNone/>
            </a:pPr>
            <a:r>
              <a:rPr lang="en-US" altLang="en-US" sz="2200" b="1" dirty="0">
                <a:latin typeface="Times New Roman" panose="02020603050405020304" pitchFamily="18" charset="0"/>
                <a:cs typeface="Times New Roman" panose="02020603050405020304" pitchFamily="18" charset="0"/>
              </a:rPr>
              <a:t>4. Model Training &amp; Validation Module</a:t>
            </a:r>
          </a:p>
          <a:p>
            <a:r>
              <a:rPr lang="en-US" altLang="en-US" sz="2200" dirty="0">
                <a:latin typeface="Times New Roman" panose="02020603050405020304" pitchFamily="18" charset="0"/>
                <a:cs typeface="Times New Roman" panose="02020603050405020304" pitchFamily="18" charset="0"/>
              </a:rPr>
              <a:t>This module is responsible for training and evaluating the CNN model for blood group prediction. </a:t>
            </a:r>
          </a:p>
          <a:p>
            <a:r>
              <a:rPr lang="en-US" altLang="en-US" sz="2200" dirty="0">
                <a:latin typeface="Times New Roman" panose="02020603050405020304" pitchFamily="18" charset="0"/>
                <a:cs typeface="Times New Roman" panose="02020603050405020304" pitchFamily="18" charset="0"/>
              </a:rPr>
              <a:t>The preprocessed fingerprint dataset is divided into training, validation, and testing sets.</a:t>
            </a:r>
          </a:p>
          <a:p>
            <a:pPr marL="0" indent="0">
              <a:buNone/>
            </a:pPr>
            <a:r>
              <a:rPr lang="en-US" altLang="en-US" sz="2200" dirty="0">
                <a:latin typeface="Times New Roman" panose="02020603050405020304" pitchFamily="18" charset="0"/>
                <a:cs typeface="Times New Roman" panose="02020603050405020304" pitchFamily="18" charset="0"/>
              </a:rPr>
              <a:t> During training, the CNN model (such as </a:t>
            </a:r>
            <a:r>
              <a:rPr lang="en-US" altLang="en-US" sz="2200" dirty="0" err="1">
                <a:latin typeface="Times New Roman" panose="02020603050405020304" pitchFamily="18" charset="0"/>
                <a:cs typeface="Times New Roman" panose="02020603050405020304" pitchFamily="18" charset="0"/>
              </a:rPr>
              <a:t>ResNet</a:t>
            </a:r>
            <a:r>
              <a:rPr lang="en-US" altLang="en-US" sz="2200" dirty="0">
                <a:latin typeface="Times New Roman" panose="02020603050405020304" pitchFamily="18" charset="0"/>
                <a:cs typeface="Times New Roman" panose="02020603050405020304" pitchFamily="18" charset="0"/>
              </a:rPr>
              <a:t>) learns meaningful fingerprint features and</a:t>
            </a:r>
          </a:p>
          <a:p>
            <a:pPr marL="0" indent="0">
              <a:buNone/>
            </a:pPr>
            <a:r>
              <a:rPr lang="en-US" altLang="en-US" sz="2200" dirty="0">
                <a:latin typeface="Times New Roman" panose="02020603050405020304" pitchFamily="18" charset="0"/>
                <a:cs typeface="Times New Roman" panose="02020603050405020304" pitchFamily="18" charset="0"/>
              </a:rPr>
              <a:t> their relationship with blood groups using labeled data. Optimization techniques like learning</a:t>
            </a:r>
          </a:p>
          <a:p>
            <a:pPr marL="0" indent="0">
              <a:buNone/>
            </a:pPr>
            <a:r>
              <a:rPr lang="en-US" altLang="en-US" sz="2200" dirty="0">
                <a:latin typeface="Times New Roman" panose="02020603050405020304" pitchFamily="18" charset="0"/>
                <a:cs typeface="Times New Roman" panose="02020603050405020304" pitchFamily="18" charset="0"/>
              </a:rPr>
              <a:t> rate tuning, dropout, and batch normalization are applied to improve performance and reduce overfitting. Validation is performed using unseen data to measure accuracy, loss, and reliability, ensuring the model generalizes well to new fingerprint inputs.</a:t>
            </a:r>
          </a:p>
          <a:p>
            <a:pPr marL="0" indent="0">
              <a:buNone/>
            </a:pPr>
            <a:endParaRPr lang="en-US" altLang="en-US" sz="2200" dirty="0">
              <a:latin typeface="Times New Roman" panose="02020603050405020304" pitchFamily="18" charset="0"/>
              <a:cs typeface="Times New Roman" panose="02020603050405020304" pitchFamily="18" charset="0"/>
            </a:endParaRPr>
          </a:p>
          <a:p>
            <a:pPr marL="0" indent="0">
              <a:buNone/>
            </a:pPr>
            <a:endParaRPr lang="en-US" altLang="en-US" sz="2200" dirty="0">
              <a:latin typeface="Times New Roman" panose="02020603050405020304" pitchFamily="18" charset="0"/>
              <a:cs typeface="Times New Roman" panose="02020603050405020304" pitchFamily="18" charset="0"/>
            </a:endParaRPr>
          </a:p>
          <a:p>
            <a:pPr marL="0" indent="0">
              <a:buNone/>
            </a:pPr>
            <a:endParaRPr lang="en-US" altLang="en-US" sz="2200" dirty="0">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6CB4B4D-7CA3-9044-876B-883B54F8677D}" type="slidenum">
              <a:rPr lang="en-IN" smtClean="0"/>
              <a:t>22</a:t>
            </a:fld>
            <a:endParaRPr lang="en-IN"/>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526774" y="1272209"/>
            <a:ext cx="10827026" cy="4904754"/>
          </a:xfrm>
        </p:spPr>
        <p:txBody>
          <a:bodyPr>
            <a:normAutofit/>
          </a:bodyPr>
          <a:lstStyle/>
          <a:p>
            <a:pPr marL="0" indent="0" algn="just">
              <a:buNone/>
            </a:pPr>
            <a:r>
              <a:rPr lang="en-US" altLang="en-US" sz="2200" b="1" dirty="0">
                <a:latin typeface="Times New Roman" panose="02020603050405020304" pitchFamily="18" charset="0"/>
                <a:cs typeface="Times New Roman" panose="02020603050405020304" pitchFamily="18" charset="0"/>
              </a:rPr>
              <a:t>5. Blood Group Prediction Module</a:t>
            </a:r>
          </a:p>
          <a:p>
            <a:pPr algn="just"/>
            <a:r>
              <a:rPr lang="en-US" altLang="en-US" sz="2200" dirty="0">
                <a:latin typeface="Times New Roman" panose="02020603050405020304" pitchFamily="18" charset="0"/>
                <a:cs typeface="Times New Roman" panose="02020603050405020304" pitchFamily="18" charset="0"/>
              </a:rPr>
              <a:t>In this module, the trained CNN model is used to predict the blood group from a new fingerprint image.</a:t>
            </a:r>
          </a:p>
          <a:p>
            <a:pPr algn="just"/>
            <a:r>
              <a:rPr lang="en-US" altLang="en-US" sz="2200" dirty="0">
                <a:latin typeface="Times New Roman" panose="02020603050405020304" pitchFamily="18" charset="0"/>
                <a:cs typeface="Times New Roman" panose="02020603050405020304" pitchFamily="18" charset="0"/>
              </a:rPr>
              <a:t> When a user uploads a fingerprint, the system preprocesses it and passes it to the trained model. The model analyzes extracted features and predicts the most probable blood group (A, B, AB, O with Rh factor). </a:t>
            </a:r>
          </a:p>
          <a:p>
            <a:pPr marL="0" indent="0" algn="just">
              <a:buNone/>
            </a:pPr>
            <a:endParaRPr lang="en-US" altLang="en-US" sz="2200" dirty="0">
              <a:latin typeface="Times New Roman" panose="02020603050405020304" pitchFamily="18" charset="0"/>
              <a:cs typeface="Times New Roman" panose="02020603050405020304" pitchFamily="18" charset="0"/>
            </a:endParaRPr>
          </a:p>
          <a:p>
            <a:pPr marL="0" indent="0" algn="just">
              <a:buNone/>
            </a:pPr>
            <a:r>
              <a:rPr lang="en-US" altLang="en-US" sz="2200" b="1" dirty="0">
                <a:latin typeface="Times New Roman" panose="02020603050405020304" pitchFamily="18" charset="0"/>
                <a:cs typeface="Times New Roman" panose="02020603050405020304" pitchFamily="18" charset="0"/>
              </a:rPr>
              <a:t>6. User Interface Module</a:t>
            </a:r>
          </a:p>
          <a:p>
            <a:pPr algn="just"/>
            <a:r>
              <a:rPr lang="en-US" altLang="en-US" sz="2200" dirty="0">
                <a:latin typeface="Times New Roman" panose="02020603050405020304" pitchFamily="18" charset="0"/>
                <a:cs typeface="Times New Roman" panose="02020603050405020304" pitchFamily="18" charset="0"/>
              </a:rPr>
              <a:t>The user interface module provides a simple and user-friendly platform for interaction. </a:t>
            </a:r>
          </a:p>
          <a:p>
            <a:pPr algn="just"/>
            <a:r>
              <a:rPr lang="en-US" altLang="en-US" sz="2200" dirty="0">
                <a:latin typeface="Times New Roman" panose="02020603050405020304" pitchFamily="18" charset="0"/>
                <a:cs typeface="Times New Roman" panose="02020603050405020304" pitchFamily="18" charset="0"/>
              </a:rPr>
              <a:t>It allows users to upload their fingerprint image through a graphical interface and initiate the detection process using a single button. </a:t>
            </a:r>
            <a:endParaRPr lang="en-US" altLang="en-US" sz="2200" b="1" dirty="0">
              <a:latin typeface="Times New Roman" panose="02020603050405020304" pitchFamily="18" charset="0"/>
              <a:cs typeface="Times New Roman" panose="02020603050405020304" pitchFamily="18" charset="0"/>
              <a:sym typeface="+mn-ea"/>
            </a:endParaRPr>
          </a:p>
          <a:p>
            <a:pPr marL="0" indent="0" algn="just">
              <a:buNone/>
            </a:pPr>
            <a:endParaRPr lang="en-US" altLang="en-US" sz="2200" dirty="0">
              <a:latin typeface="Times New Roman" panose="02020603050405020304" pitchFamily="18" charset="0"/>
              <a:cs typeface="Times New Roman" panose="02020603050405020304" pitchFamily="18" charset="0"/>
            </a:endParaRPr>
          </a:p>
          <a:p>
            <a:pPr algn="just"/>
            <a:endParaRPr lang="en-US" sz="2200" dirty="0">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6CB4B4D-7CA3-9044-876B-883B54F8677D}" type="slidenum">
              <a:rPr lang="en-IN" smtClean="0"/>
              <a:t>23</a:t>
            </a:fld>
            <a:endParaRPr lang="en-IN"/>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7017" y="387625"/>
            <a:ext cx="10866783" cy="722671"/>
          </a:xfrm>
        </p:spPr>
        <p:txBody>
          <a:bodyPr>
            <a:normAutofit/>
          </a:bodyPr>
          <a:lstStyle/>
          <a:p>
            <a:r>
              <a:rPr lang="en-US" sz="3600" b="1" dirty="0">
                <a:latin typeface="Times New Roman" panose="02020603050405020304" pitchFamily="18" charset="0"/>
                <a:cs typeface="Times New Roman" panose="02020603050405020304" pitchFamily="18" charset="0"/>
              </a:rPr>
              <a:t>Results and Discussion</a:t>
            </a:r>
            <a:endParaRPr lang="en-IN" sz="36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77687" y="1361661"/>
            <a:ext cx="10976113" cy="4386042"/>
          </a:xfrm>
        </p:spPr>
        <p:txBody>
          <a:bodyPr>
            <a:noAutofit/>
          </a:bodyPr>
          <a:lstStyle/>
          <a:p>
            <a:pPr marL="0" indent="0" algn="just">
              <a:lnSpc>
                <a:spcPct val="150000"/>
              </a:lnSpc>
              <a:buNone/>
            </a:pPr>
            <a:r>
              <a:rPr lang="en-US" sz="2200" dirty="0">
                <a:latin typeface="Times New Roman" panose="02020603050405020304" pitchFamily="18" charset="0"/>
                <a:cs typeface="Times New Roman" panose="02020603050405020304" pitchFamily="18" charset="0"/>
              </a:rPr>
              <a:t>The system was tested on fingerprint images from different blood groups. Results show that CNN models like </a:t>
            </a:r>
            <a:r>
              <a:rPr lang="en-US" sz="2200" dirty="0" err="1">
                <a:latin typeface="Times New Roman" panose="02020603050405020304" pitchFamily="18" charset="0"/>
                <a:cs typeface="Times New Roman" panose="02020603050405020304" pitchFamily="18" charset="0"/>
              </a:rPr>
              <a:t>ResNet</a:t>
            </a:r>
            <a:r>
              <a:rPr lang="en-US" sz="2200" dirty="0">
                <a:latin typeface="Times New Roman" panose="02020603050405020304" pitchFamily="18" charset="0"/>
                <a:cs typeface="Times New Roman" panose="02020603050405020304" pitchFamily="18" charset="0"/>
              </a:rPr>
              <a:t> can learn useful fingerprint features for blood group prediction. Image preprocessing improved ridge clarity and reduced noise, leading to better predictions. The system accurately predicted blood groups (A, B, AB, O with Rh factor) and provided confidence scores through a simple, fast interface. Although confidence varies due to limited data and fingerprint quality, the results confirm the feasibility of non-invasive blood group detection, with scope for improvement using larger datasets.</a:t>
            </a:r>
            <a:endParaRPr lang="en-US" altLang="en-US" sz="2200" dirty="0">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6CB4B4D-7CA3-9044-876B-883B54F8677D}" type="slidenum">
              <a:rPr lang="en-IN" smtClean="0"/>
              <a:t>24</a:t>
            </a:fld>
            <a:endParaRPr lang="en-IN"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94B01E-C671-EB5D-90B9-CD613D96A336}"/>
              </a:ext>
            </a:extLst>
          </p:cNvPr>
          <p:cNvSpPr>
            <a:spLocks noGrp="1"/>
          </p:cNvSpPr>
          <p:nvPr>
            <p:ph type="title"/>
          </p:nvPr>
        </p:nvSpPr>
        <p:spPr>
          <a:xfrm>
            <a:off x="838200" y="-775251"/>
            <a:ext cx="10515600" cy="2415208"/>
          </a:xfrm>
        </p:spPr>
        <p:txBody>
          <a:bodyPr>
            <a:normAutofit/>
          </a:bodyPr>
          <a:lstStyle/>
          <a:p>
            <a:r>
              <a:rPr lang="en-US" sz="3600" dirty="0">
                <a:latin typeface="Times New Roman" panose="02020603050405020304" pitchFamily="18" charset="0"/>
                <a:cs typeface="Times New Roman" panose="02020603050405020304" pitchFamily="18" charset="0"/>
              </a:rPr>
              <a:t>Output:</a:t>
            </a:r>
            <a:endParaRPr lang="en-IN" sz="3600" dirty="0">
              <a:latin typeface="Times New Roman" panose="02020603050405020304" pitchFamily="18" charset="0"/>
              <a:cs typeface="Times New Roman" panose="02020603050405020304" pitchFamily="18" charset="0"/>
            </a:endParaRPr>
          </a:p>
        </p:txBody>
      </p:sp>
      <p:pic>
        <p:nvPicPr>
          <p:cNvPr id="6" name="Content Placeholder 5">
            <a:extLst>
              <a:ext uri="{FF2B5EF4-FFF2-40B4-BE49-F238E27FC236}">
                <a16:creationId xmlns:a16="http://schemas.microsoft.com/office/drawing/2014/main" id="{1D9FA3EC-4C08-A46D-89A3-8CE8747A6613}"/>
              </a:ext>
            </a:extLst>
          </p:cNvPr>
          <p:cNvPicPr>
            <a:picLocks noGrp="1" noChangeAspect="1"/>
          </p:cNvPicPr>
          <p:nvPr>
            <p:ph idx="1"/>
          </p:nvPr>
        </p:nvPicPr>
        <p:blipFill>
          <a:blip r:embed="rId2"/>
          <a:stretch>
            <a:fillRect/>
          </a:stretch>
        </p:blipFill>
        <p:spPr>
          <a:xfrm>
            <a:off x="1043609" y="1262271"/>
            <a:ext cx="9640955" cy="4462668"/>
          </a:xfrm>
          <a:prstGeom prst="rect">
            <a:avLst/>
          </a:prstGeom>
        </p:spPr>
      </p:pic>
      <p:sp>
        <p:nvSpPr>
          <p:cNvPr id="4" name="Footer Placeholder 3">
            <a:extLst>
              <a:ext uri="{FF2B5EF4-FFF2-40B4-BE49-F238E27FC236}">
                <a16:creationId xmlns:a16="http://schemas.microsoft.com/office/drawing/2014/main" id="{F88AB47F-0EA7-92C0-5C3F-0C757EA855C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86023C2-742A-F187-FAFD-9E27938691EB}"/>
              </a:ext>
            </a:extLst>
          </p:cNvPr>
          <p:cNvSpPr>
            <a:spLocks noGrp="1"/>
          </p:cNvSpPr>
          <p:nvPr>
            <p:ph type="sldNum" sz="quarter" idx="12"/>
          </p:nvPr>
        </p:nvSpPr>
        <p:spPr/>
        <p:txBody>
          <a:bodyPr/>
          <a:lstStyle/>
          <a:p>
            <a:fld id="{86CB4B4D-7CA3-9044-876B-883B54F8677D}" type="slidenum">
              <a:rPr lang="en-IN" smtClean="0"/>
              <a:t>25</a:t>
            </a:fld>
            <a:endParaRPr lang="en-IN"/>
          </a:p>
        </p:txBody>
      </p:sp>
    </p:spTree>
    <p:extLst>
      <p:ext uri="{BB962C8B-B14F-4D97-AF65-F5344CB8AC3E}">
        <p14:creationId xmlns:p14="http://schemas.microsoft.com/office/powerpoint/2010/main" val="21404154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A2F41D-9C17-288F-CE42-1B4164487F90}"/>
              </a:ext>
            </a:extLst>
          </p:cNvPr>
          <p:cNvSpPr>
            <a:spLocks noGrp="1"/>
          </p:cNvSpPr>
          <p:nvPr>
            <p:ph type="title"/>
          </p:nvPr>
        </p:nvSpPr>
        <p:spPr/>
        <p:txBody>
          <a:bodyPr/>
          <a:lstStyle/>
          <a:p>
            <a:endParaRPr lang="en-IN"/>
          </a:p>
        </p:txBody>
      </p:sp>
      <p:pic>
        <p:nvPicPr>
          <p:cNvPr id="6" name="Content Placeholder 5">
            <a:extLst>
              <a:ext uri="{FF2B5EF4-FFF2-40B4-BE49-F238E27FC236}">
                <a16:creationId xmlns:a16="http://schemas.microsoft.com/office/drawing/2014/main" id="{D0FB34E4-68C6-59F0-7CC2-FB7BFB5797FB}"/>
              </a:ext>
            </a:extLst>
          </p:cNvPr>
          <p:cNvPicPr>
            <a:picLocks noGrp="1" noChangeAspect="1"/>
          </p:cNvPicPr>
          <p:nvPr>
            <p:ph idx="1"/>
          </p:nvPr>
        </p:nvPicPr>
        <p:blipFill>
          <a:blip r:embed="rId2"/>
          <a:stretch>
            <a:fillRect/>
          </a:stretch>
        </p:blipFill>
        <p:spPr>
          <a:xfrm>
            <a:off x="1470991" y="1341783"/>
            <a:ext cx="8557592" cy="4542181"/>
          </a:xfrm>
          <a:prstGeom prst="rect">
            <a:avLst/>
          </a:prstGeom>
        </p:spPr>
      </p:pic>
      <p:sp>
        <p:nvSpPr>
          <p:cNvPr id="4" name="Footer Placeholder 3">
            <a:extLst>
              <a:ext uri="{FF2B5EF4-FFF2-40B4-BE49-F238E27FC236}">
                <a16:creationId xmlns:a16="http://schemas.microsoft.com/office/drawing/2014/main" id="{7B396088-4891-293A-790B-B9D5769B61A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2CAB197-4272-F5DC-EC04-E2CE9EB27909}"/>
              </a:ext>
            </a:extLst>
          </p:cNvPr>
          <p:cNvSpPr>
            <a:spLocks noGrp="1"/>
          </p:cNvSpPr>
          <p:nvPr>
            <p:ph type="sldNum" sz="quarter" idx="12"/>
          </p:nvPr>
        </p:nvSpPr>
        <p:spPr/>
        <p:txBody>
          <a:bodyPr/>
          <a:lstStyle/>
          <a:p>
            <a:fld id="{86CB4B4D-7CA3-9044-876B-883B54F8677D}" type="slidenum">
              <a:rPr lang="en-IN" smtClean="0"/>
              <a:t>26</a:t>
            </a:fld>
            <a:endParaRPr lang="en-IN"/>
          </a:p>
        </p:txBody>
      </p:sp>
    </p:spTree>
    <p:extLst>
      <p:ext uri="{BB962C8B-B14F-4D97-AF65-F5344CB8AC3E}">
        <p14:creationId xmlns:p14="http://schemas.microsoft.com/office/powerpoint/2010/main" val="27824277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a:t>Conclusion</a:t>
            </a:r>
          </a:p>
        </p:txBody>
      </p:sp>
      <p:sp>
        <p:nvSpPr>
          <p:cNvPr id="3" name="Text Placeholder 2"/>
          <p:cNvSpPr>
            <a:spLocks noGrp="1"/>
          </p:cNvSpPr>
          <p:nvPr>
            <p:ph idx="1"/>
          </p:nvPr>
        </p:nvSpPr>
        <p:spPr>
          <a:xfrm>
            <a:off x="838200" y="1405255"/>
            <a:ext cx="10515600" cy="4351338"/>
          </a:xfrm>
        </p:spPr>
        <p:txBody>
          <a:bodyPr>
            <a:noAutofit/>
          </a:bodyPr>
          <a:lstStyle/>
          <a:p>
            <a:pPr marL="0" indent="0" algn="just">
              <a:lnSpc>
                <a:spcPct val="150000"/>
              </a:lnSpc>
              <a:buNone/>
            </a:pPr>
            <a:r>
              <a:rPr lang="en-US" altLang="en-US" sz="2000" dirty="0"/>
              <a:t>The project “Non-Invasive Blood Group Detection Using Fingerprint” successfully demonstrates an innovative approach to determining blood groups using biometric data and deep learning techniques. By integrating fingerprint image acquisition, preprocessing, and CNN-based classification, the system provides a fast, painless, and user-friendly alternative to conventional blood testing methods. The use of advanced CNN architectures enables effective learning of fingerprint patterns and reliable blood group prediction, making the system suitable for healthcare and biometric applications. Overall, the project highlights the potential of artificial intelligence in medical diagnostics and shows that non-invasive biometric-based solutions can enhance accessibility, efficiency, and digital healthcare services. With further improvements in dataset size and model optimization, the system can be extended into a robust, real-world deployable solution.</a:t>
            </a:r>
          </a:p>
        </p:txBody>
      </p:sp>
      <p:sp>
        <p:nvSpPr>
          <p:cNvPr id="4" name="Slide Number Placeholder 3"/>
          <p:cNvSpPr>
            <a:spLocks noGrp="1"/>
          </p:cNvSpPr>
          <p:nvPr>
            <p:ph type="sldNum" sz="quarter" idx="12"/>
          </p:nvPr>
        </p:nvSpPr>
        <p:spPr/>
        <p:txBody>
          <a:bodyPr/>
          <a:lstStyle/>
          <a:p>
            <a:fld id="{86CB4B4D-7CA3-9044-876B-883B54F8677D}" type="slidenum">
              <a:rPr lang="en-US" smtClean="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Future Scope</a:t>
            </a:r>
            <a:endParaRPr lang="en-IN"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470025"/>
            <a:ext cx="10515600" cy="4351338"/>
          </a:xfrm>
        </p:spPr>
        <p:txBody>
          <a:bodyPr>
            <a:normAutofit fontScale="85000" lnSpcReduction="20000"/>
          </a:bodyPr>
          <a:lstStyle/>
          <a:p>
            <a:pPr marL="0" indent="0" algn="just">
              <a:lnSpc>
                <a:spcPct val="150000"/>
              </a:lnSpc>
              <a:buNone/>
            </a:pPr>
            <a:r>
              <a:rPr lang="en-US" sz="2400" dirty="0">
                <a:latin typeface="Times New Roman" panose="02020603050405020304" pitchFamily="18" charset="0"/>
                <a:cs typeface="Times New Roman" panose="02020603050405020304" pitchFamily="18" charset="0"/>
              </a:rPr>
              <a:t>The proposed non-invasive blood group detection system has significant potential for further development and real-world deployment. In the future, the model can be enhanced by incorporating larger and more diverse fingerprint datasets to improve accuracy and reliability across different populations. The system can be integrated into mobile and IoT-based health devices, enabling instant blood group identification at the point of care. Advanced deep learning architectures and optimization techniques may further enhance performance while reducing computation time. Additionally, integrating the system into hospital management platforms, emergency response units, and biometric identification systems can greatly expand its practical applications. With continued research, this technology can evolve into a widely adopted, portable, and cost-effective diagnostic tool for global healthcare use.</a:t>
            </a:r>
          </a:p>
          <a:p>
            <a:pPr marL="0" indent="0" algn="just">
              <a:buNone/>
            </a:pPr>
            <a:endParaRPr lang="en-IN" sz="2400" dirty="0">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6CB4B4D-7CA3-9044-876B-883B54F8677D}" type="slidenum">
              <a:rPr lang="en-IN" smtClean="0"/>
              <a:t>28</a:t>
            </a:fld>
            <a:endParaRPr lang="en-IN"/>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9171" y="136524"/>
            <a:ext cx="10515600" cy="849795"/>
          </a:xfrm>
        </p:spPr>
        <p:txBody>
          <a:bodyPr>
            <a:normAutofit/>
          </a:bodyPr>
          <a:lstStyle/>
          <a:p>
            <a:r>
              <a:rPr lang="en-US" sz="3600" b="1" dirty="0">
                <a:latin typeface="Times New Roman" panose="02020603050405020304" pitchFamily="18" charset="0"/>
                <a:cs typeface="Times New Roman" panose="02020603050405020304" pitchFamily="18" charset="0"/>
              </a:rPr>
              <a:t>References</a:t>
            </a:r>
          </a:p>
        </p:txBody>
      </p:sp>
      <p:sp>
        <p:nvSpPr>
          <p:cNvPr id="3" name="Text Placeholder 2"/>
          <p:cNvSpPr>
            <a:spLocks noGrp="1"/>
          </p:cNvSpPr>
          <p:nvPr>
            <p:ph idx="1"/>
          </p:nvPr>
        </p:nvSpPr>
        <p:spPr>
          <a:xfrm>
            <a:off x="856342" y="986320"/>
            <a:ext cx="10497457" cy="5589141"/>
          </a:xfrm>
        </p:spPr>
        <p:txBody>
          <a:bodyPr>
            <a:noAutofit/>
          </a:bodyPr>
          <a:lstStyle/>
          <a:p>
            <a:pPr marL="0" indent="0" algn="just">
              <a:buNone/>
            </a:pPr>
            <a:r>
              <a:rPr lang="en-US" sz="1600" dirty="0">
                <a:latin typeface="Times New Roman" panose="02020603050405020304" pitchFamily="18" charset="0"/>
                <a:cs typeface="Times New Roman" panose="02020603050405020304" pitchFamily="18" charset="0"/>
              </a:rPr>
              <a:t>[1]H. S. Vineela, “MACHINE LEARNING-BASED BLOOD GROUP DETECTION: A REVIEW” International Journal of Research, vol. 13, no. 5, pp. 129–135, 2024.</a:t>
            </a:r>
          </a:p>
          <a:p>
            <a:pPr marL="0" indent="0" algn="just">
              <a:buNone/>
            </a:pPr>
            <a:r>
              <a:rPr lang="en-US" sz="1600" dirty="0">
                <a:latin typeface="Times New Roman" panose="02020603050405020304" pitchFamily="18" charset="0"/>
                <a:cs typeface="Times New Roman" panose="02020603050405020304" pitchFamily="18" charset="0"/>
              </a:rPr>
              <a:t>[2]</a:t>
            </a:r>
            <a:r>
              <a:rPr lang="en-IN" sz="1600" dirty="0">
                <a:latin typeface="Times New Roman" panose="02020603050405020304" pitchFamily="18" charset="0"/>
                <a:ea typeface="Times New Roman" panose="02020603050405020304" pitchFamily="18" charset="0"/>
                <a:cs typeface="Times New Roman" panose="02020603050405020304" pitchFamily="18" charset="0"/>
              </a:rPr>
              <a:t> T. Nihar, K. Yeswanth, and K. Prabhakar, “Blood Group Prediction Using Fingerprint Images with CNN and Gabor Filter,” </a:t>
            </a:r>
            <a:r>
              <a:rPr lang="en-IN" sz="1600" i="1" dirty="0">
                <a:latin typeface="Times New Roman" panose="02020603050405020304" pitchFamily="18" charset="0"/>
                <a:ea typeface="Times New Roman" panose="02020603050405020304" pitchFamily="18" charset="0"/>
                <a:cs typeface="Times New Roman" panose="02020603050405020304" pitchFamily="18" charset="0"/>
              </a:rPr>
              <a:t>International Journal of Research</a:t>
            </a:r>
            <a:r>
              <a:rPr lang="en-IN" sz="1600" dirty="0">
                <a:latin typeface="Times New Roman" panose="02020603050405020304" pitchFamily="18" charset="0"/>
                <a:ea typeface="Times New Roman" panose="02020603050405020304" pitchFamily="18" charset="0"/>
                <a:cs typeface="Times New Roman" panose="02020603050405020304" pitchFamily="18" charset="0"/>
              </a:rPr>
              <a:t>, vol. 13, no. 5, pp. 122–128, 2024.</a:t>
            </a:r>
          </a:p>
          <a:p>
            <a:pPr marL="0" indent="0" algn="just">
              <a:buNone/>
            </a:pPr>
            <a:r>
              <a:rPr lang="en-IN" sz="1600" dirty="0">
                <a:latin typeface="Times New Roman" panose="02020603050405020304" pitchFamily="18" charset="0"/>
                <a:ea typeface="Times New Roman" panose="02020603050405020304" pitchFamily="18" charset="0"/>
                <a:cs typeface="Times New Roman" panose="02020603050405020304" pitchFamily="18" charset="0"/>
              </a:rPr>
              <a:t>[3] T. Gupta, “Blood Group Prediction Using Deep Learning,” </a:t>
            </a:r>
            <a:r>
              <a:rPr lang="en-IN" sz="1600" i="1" dirty="0">
                <a:latin typeface="Times New Roman" panose="02020603050405020304" pitchFamily="18" charset="0"/>
                <a:ea typeface="Times New Roman" panose="02020603050405020304" pitchFamily="18" charset="0"/>
                <a:cs typeface="Times New Roman" panose="02020603050405020304" pitchFamily="18" charset="0"/>
              </a:rPr>
              <a:t>International Journal of Advanced Research in Computer      Science</a:t>
            </a:r>
            <a:r>
              <a:rPr lang="en-IN" sz="1600" dirty="0">
                <a:latin typeface="Times New Roman" panose="02020603050405020304" pitchFamily="18" charset="0"/>
                <a:ea typeface="Times New Roman" panose="02020603050405020304" pitchFamily="18" charset="0"/>
                <a:cs typeface="Times New Roman" panose="02020603050405020304" pitchFamily="18" charset="0"/>
              </a:rPr>
              <a:t>, vol. 15, no. 2, pp. 45–50, 2024.</a:t>
            </a:r>
          </a:p>
          <a:p>
            <a:pPr marL="0" indent="0" algn="just">
              <a:buNone/>
            </a:pPr>
            <a:r>
              <a:rPr lang="en-IN" sz="1600" dirty="0">
                <a:latin typeface="Times New Roman" panose="02020603050405020304" pitchFamily="18" charset="0"/>
                <a:ea typeface="Times New Roman" panose="02020603050405020304" pitchFamily="18" charset="0"/>
                <a:cs typeface="Times New Roman" panose="02020603050405020304" pitchFamily="18" charset="0"/>
              </a:rPr>
              <a:t>[4]</a:t>
            </a:r>
            <a:r>
              <a:rPr lang="en-US" sz="1600" dirty="0">
                <a:latin typeface="Times New Roman" panose="02020603050405020304" pitchFamily="18" charset="0"/>
                <a:ea typeface="Times New Roman" panose="02020603050405020304" pitchFamily="18" charset="0"/>
                <a:cs typeface="Times New Roman" panose="02020603050405020304" pitchFamily="18" charset="0"/>
              </a:rPr>
              <a:t> P1 S. Swathi, Sushmitha, and Prof. Kavita, “Fingerprint Based Blood Group Prediction Using Deep Learning,” International Journal of Research, vol. 13, no. 5, pp. 136–142, 2024.</a:t>
            </a:r>
          </a:p>
          <a:p>
            <a:pPr marL="0" indent="0" algn="just">
              <a:buNone/>
            </a:pPr>
            <a:r>
              <a:rPr lang="en-US" sz="1600" dirty="0">
                <a:latin typeface="Times New Roman" panose="02020603050405020304" pitchFamily="18" charset="0"/>
                <a:ea typeface="Times New Roman" panose="02020603050405020304" pitchFamily="18" charset="0"/>
                <a:cs typeface="Times New Roman" panose="02020603050405020304" pitchFamily="18" charset="0"/>
              </a:rPr>
              <a:t>[5]</a:t>
            </a:r>
            <a:r>
              <a:rPr lang="en-IN" sz="1600" dirty="0">
                <a:latin typeface="Times New Roman" panose="02020603050405020304" pitchFamily="18" charset="0"/>
                <a:ea typeface="Times New Roman" panose="02020603050405020304" pitchFamily="18" charset="0"/>
                <a:cs typeface="Times New Roman" panose="02020603050405020304" pitchFamily="18" charset="0"/>
              </a:rPr>
              <a:t>  Gupta, A., Agarwal, S., &amp; Jain, R., et al. Investigates the use of machine learning algorithms, including Support Vector Machines (SVM) and Random Forests (RF), for blood group identification using fingerprint images. (2023).</a:t>
            </a:r>
          </a:p>
          <a:p>
            <a:pPr marL="0" indent="0">
              <a:buNone/>
            </a:pPr>
            <a:r>
              <a:rPr lang="en-US" sz="1600" dirty="0">
                <a:latin typeface="Times New Roman" panose="02020603050405020304" pitchFamily="18" charset="0"/>
                <a:cs typeface="Times New Roman" panose="02020603050405020304" pitchFamily="18" charset="0"/>
              </a:rPr>
              <a:t>[6] Verma, A., &amp; Bhatt, V., et al. Provides n overview of automated blood group identification methods based on fingerprint </a:t>
            </a:r>
            <a:r>
              <a:rPr lang="en-US" sz="1600" dirty="0" err="1">
                <a:latin typeface="Times New Roman" panose="02020603050405020304" pitchFamily="18" charset="0"/>
                <a:cs typeface="Times New Roman" panose="02020603050405020304" pitchFamily="18" charset="0"/>
              </a:rPr>
              <a:t>nalysis</a:t>
            </a:r>
            <a:r>
              <a:rPr lang="en-US" sz="1600" dirty="0">
                <a:latin typeface="Times New Roman" panose="02020603050405020304" pitchFamily="18" charset="0"/>
                <a:cs typeface="Times New Roman" panose="02020603050405020304" pitchFamily="18" charset="0"/>
              </a:rPr>
              <a:t> and the use of machine learning algorithms.(Feb 11,2022).</a:t>
            </a:r>
            <a:endParaRPr lang="en-IN" sz="1600" dirty="0">
              <a:latin typeface="Times New Roman" panose="02020603050405020304" pitchFamily="18" charset="0"/>
              <a:cs typeface="Times New Roman" panose="02020603050405020304" pitchFamily="18" charset="0"/>
            </a:endParaRPr>
          </a:p>
          <a:p>
            <a:pPr marL="0" indent="0">
              <a:buNone/>
            </a:pPr>
            <a:r>
              <a:rPr lang="en-US" sz="1600" dirty="0">
                <a:latin typeface="Times New Roman" panose="02020603050405020304" pitchFamily="18" charset="0"/>
                <a:cs typeface="Times New Roman" panose="02020603050405020304" pitchFamily="18" charset="0"/>
              </a:rPr>
              <a:t>[7] Vijaykumar Patil N, D. R. Ingle. A Novel approach to predict blood group using fingerprint map reading and the use of HFDU06 Scanner. (Apr 02-04,2021).</a:t>
            </a:r>
            <a:endParaRPr lang="en-IN" sz="1600" dirty="0">
              <a:latin typeface="Times New Roman" panose="02020603050405020304" pitchFamily="18" charset="0"/>
              <a:cs typeface="Times New Roman" panose="02020603050405020304" pitchFamily="18" charset="0"/>
            </a:endParaRPr>
          </a:p>
          <a:p>
            <a:pPr marL="0" indent="0">
              <a:buNone/>
            </a:pPr>
            <a:r>
              <a:rPr lang="en-US" sz="1600" dirty="0">
                <a:latin typeface="Times New Roman" panose="02020603050405020304" pitchFamily="18" charset="0"/>
                <a:cs typeface="Times New Roman" panose="02020603050405020304" pitchFamily="18" charset="0"/>
              </a:rPr>
              <a:t>[8] M. Mondal, M. Katun, U. K. Suma, and Md. R. Islam, “Blood group identification based on fingerprint by using 2D Discrete wavelet and binary </a:t>
            </a:r>
            <a:r>
              <a:rPr lang="en-US" sz="1600" dirty="0" err="1">
                <a:latin typeface="Times New Roman" panose="02020603050405020304" pitchFamily="18" charset="0"/>
                <a:cs typeface="Times New Roman" panose="02020603050405020304" pitchFamily="18" charset="0"/>
              </a:rPr>
              <a:t>transform,”modeling</a:t>
            </a:r>
            <a:r>
              <a:rPr lang="en-US" sz="1600" dirty="0">
                <a:latin typeface="Times New Roman" panose="02020603050405020304" pitchFamily="18" charset="0"/>
                <a:cs typeface="Times New Roman" panose="02020603050405020304" pitchFamily="18" charset="0"/>
              </a:rPr>
              <a:t>, measurement and control C, vol.80, no.2, pp.63-70,2019.</a:t>
            </a:r>
            <a:endParaRPr lang="en-IN" sz="1600" dirty="0">
              <a:latin typeface="Times New Roman" panose="02020603050405020304" pitchFamily="18" charset="0"/>
              <a:cs typeface="Times New Roman" panose="02020603050405020304" pitchFamily="18" charset="0"/>
            </a:endParaRPr>
          </a:p>
          <a:p>
            <a:pPr marL="0" indent="0">
              <a:buNone/>
            </a:pPr>
            <a:r>
              <a:rPr lang="en-US" sz="1600" dirty="0">
                <a:latin typeface="Times New Roman" panose="02020603050405020304" pitchFamily="18" charset="0"/>
                <a:cs typeface="Times New Roman" panose="02020603050405020304" pitchFamily="18" charset="0"/>
              </a:rPr>
              <a:t>[9] H. </a:t>
            </a:r>
            <a:r>
              <a:rPr lang="en-US" sz="1600" dirty="0" err="1">
                <a:latin typeface="Times New Roman" panose="02020603050405020304" pitchFamily="18" charset="0"/>
                <a:cs typeface="Times New Roman" panose="02020603050405020304" pitchFamily="18" charset="0"/>
              </a:rPr>
              <a:t>AIshehri</a:t>
            </a:r>
            <a:r>
              <a:rPr lang="en-US" sz="1600" dirty="0">
                <a:latin typeface="Times New Roman" panose="02020603050405020304" pitchFamily="18" charset="0"/>
                <a:cs typeface="Times New Roman" panose="02020603050405020304" pitchFamily="18" charset="0"/>
              </a:rPr>
              <a:t>, M. Hussain, H. </a:t>
            </a:r>
            <a:r>
              <a:rPr lang="en-US" sz="1600" dirty="0" err="1">
                <a:latin typeface="Times New Roman" panose="02020603050405020304" pitchFamily="18" charset="0"/>
                <a:cs typeface="Times New Roman" panose="02020603050405020304" pitchFamily="18" charset="0"/>
              </a:rPr>
              <a:t>AboAISamh</a:t>
            </a:r>
            <a:r>
              <a:rPr lang="en-US" sz="1600" dirty="0">
                <a:latin typeface="Times New Roman" panose="02020603050405020304" pitchFamily="18" charset="0"/>
                <a:cs typeface="Times New Roman" panose="02020603050405020304" pitchFamily="18" charset="0"/>
              </a:rPr>
              <a:t>, Q. Emad-ul-Haq, and A. M. Azmi, “Alignment-free cross-sensor fingerprint matching based on the Co-Occurrence of ridge Orientations and Gabor-</a:t>
            </a:r>
            <a:r>
              <a:rPr lang="en-US" sz="1600" dirty="0" err="1">
                <a:latin typeface="Times New Roman" panose="02020603050405020304" pitchFamily="18" charset="0"/>
                <a:cs typeface="Times New Roman" panose="02020603050405020304" pitchFamily="18" charset="0"/>
              </a:rPr>
              <a:t>HoG</a:t>
            </a:r>
            <a:r>
              <a:rPr lang="en-US" sz="1600" dirty="0">
                <a:latin typeface="Times New Roman" panose="02020603050405020304" pitchFamily="18" charset="0"/>
                <a:cs typeface="Times New Roman" panose="02020603050405020304" pitchFamily="18" charset="0"/>
              </a:rPr>
              <a:t> Descriptor”.</a:t>
            </a:r>
          </a:p>
          <a:p>
            <a:pPr marL="0" indent="0">
              <a:buNone/>
            </a:pPr>
            <a:r>
              <a:rPr lang="en-US" sz="1600" dirty="0">
                <a:latin typeface="Times New Roman" panose="02020603050405020304" pitchFamily="18" charset="0"/>
                <a:cs typeface="Times New Roman" panose="02020603050405020304" pitchFamily="18" charset="0"/>
              </a:rPr>
              <a:t>[10] Dr. D. Shiva Sundhara Raj and J </a:t>
            </a:r>
            <a:r>
              <a:rPr lang="en-US" sz="1600" dirty="0" err="1">
                <a:latin typeface="Times New Roman" panose="02020603050405020304" pitchFamily="18" charset="0"/>
                <a:cs typeface="Times New Roman" panose="02020603050405020304" pitchFamily="18" charset="0"/>
              </a:rPr>
              <a:t>Abinaya”A</a:t>
            </a:r>
            <a:r>
              <a:rPr lang="en-US" sz="1600" dirty="0">
                <a:latin typeface="Times New Roman" panose="02020603050405020304" pitchFamily="18" charset="0"/>
                <a:cs typeface="Times New Roman" panose="02020603050405020304" pitchFamily="18" charset="0"/>
              </a:rPr>
              <a:t> Cost-effective method for blood group detection using fingerprints”, International journal of advance study and research work, vol.2, march 2019.</a:t>
            </a:r>
            <a:endParaRPr lang="en-IN" sz="1600" dirty="0">
              <a:latin typeface="Times New Roman" panose="02020603050405020304" pitchFamily="18" charset="0"/>
              <a:cs typeface="Times New Roman" panose="02020603050405020304" pitchFamily="18" charset="0"/>
            </a:endParaRPr>
          </a:p>
          <a:p>
            <a:pPr marL="0" indent="0">
              <a:buNone/>
            </a:pPr>
            <a:endParaRPr lang="en-IN" sz="1600" dirty="0">
              <a:latin typeface="Times New Roman" panose="02020603050405020304" pitchFamily="18" charset="0"/>
              <a:cs typeface="Times New Roman" panose="02020603050405020304" pitchFamily="18" charset="0"/>
            </a:endParaRPr>
          </a:p>
          <a:p>
            <a:pPr marL="0" indent="0" algn="just">
              <a:buNone/>
            </a:pPr>
            <a:endParaRPr lang="en-IN" sz="1600"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86CB4B4D-7CA3-9044-876B-883B54F8677D}" type="slidenum">
              <a:rPr lang="en-US" smtClean="0"/>
              <a:t>29</a:t>
            </a:fld>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D72F6-0D88-B669-6303-8C529717439B}"/>
              </a:ext>
            </a:extLst>
          </p:cNvPr>
          <p:cNvSpPr>
            <a:spLocks noGrp="1"/>
          </p:cNvSpPr>
          <p:nvPr>
            <p:ph type="title"/>
          </p:nvPr>
        </p:nvSpPr>
        <p:spPr/>
        <p:txBody>
          <a:bodyPr>
            <a:normAutofit/>
          </a:bodyPr>
          <a:lstStyle/>
          <a:p>
            <a:r>
              <a:rPr lang="en-US" sz="3600" b="1" dirty="0">
                <a:latin typeface="Times New Roman" panose="02020603050405020304" pitchFamily="18" charset="0"/>
                <a:cs typeface="Times New Roman" panose="02020603050405020304" pitchFamily="18" charset="0"/>
              </a:rPr>
              <a:t>Publication status</a:t>
            </a:r>
            <a:endParaRPr lang="en-IN" sz="36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0883275-4A6B-294B-FA67-CADC906CE17F}"/>
              </a:ext>
            </a:extLst>
          </p:cNvPr>
          <p:cNvSpPr>
            <a:spLocks noGrp="1"/>
          </p:cNvSpPr>
          <p:nvPr>
            <p:ph idx="1"/>
          </p:nvPr>
        </p:nvSpPr>
        <p:spPr/>
        <p:txBody>
          <a:bodyPr>
            <a:normAutofit/>
          </a:bodyPr>
          <a:lstStyle/>
          <a:p>
            <a:pPr marL="0" indent="0" algn="just">
              <a:buNone/>
            </a:pPr>
            <a:r>
              <a:rPr lang="en-US" sz="2200" dirty="0">
                <a:latin typeface="Times New Roman" panose="02020603050405020304" pitchFamily="18" charset="0"/>
                <a:cs typeface="Times New Roman" panose="02020603050405020304" pitchFamily="18" charset="0"/>
              </a:rPr>
              <a:t>The project titled “Non-Invasive Blood Group Detection Using Fingerprint Images” presents an innovative approach, and a patent application related to this work has been filed. The application is currently under review by the Indian Patent Office (</a:t>
            </a:r>
            <a:r>
              <a:rPr lang="en-US" sz="2200" u="sng" dirty="0">
                <a:latin typeface="Times New Roman" panose="02020603050405020304" pitchFamily="18" charset="0"/>
                <a:cs typeface="Times New Roman" panose="02020603050405020304" pitchFamily="18" charset="0"/>
                <a:hlinkClick r:id="rId2"/>
              </a:rPr>
              <a:t>https://en.wikipedia.org/wiki/Indian_Patent_Office</a:t>
            </a:r>
            <a:r>
              <a:rPr lang="en-US" sz="2200" dirty="0">
                <a:latin typeface="Times New Roman" panose="02020603050405020304" pitchFamily="18" charset="0"/>
                <a:cs typeface="Times New Roman" panose="02020603050405020304" pitchFamily="18" charset="0"/>
              </a:rPr>
              <a:t>).</a:t>
            </a:r>
            <a:endParaRPr lang="en-IN" sz="2200" dirty="0">
              <a:latin typeface="Times New Roman" panose="02020603050405020304" pitchFamily="18" charset="0"/>
              <a:cs typeface="Times New Roman" panose="02020603050405020304" pitchFamily="18" charset="0"/>
            </a:endParaRPr>
          </a:p>
          <a:p>
            <a:pPr algn="just"/>
            <a:endParaRPr lang="en-IN" sz="22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FCF05FE9-393A-DF6B-1E88-D869C5698ED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42EEE9F-6571-45C7-746B-6BBEF9A3C5C0}"/>
              </a:ext>
            </a:extLst>
          </p:cNvPr>
          <p:cNvSpPr>
            <a:spLocks noGrp="1"/>
          </p:cNvSpPr>
          <p:nvPr>
            <p:ph type="sldNum" sz="quarter" idx="12"/>
          </p:nvPr>
        </p:nvSpPr>
        <p:spPr/>
        <p:txBody>
          <a:bodyPr/>
          <a:lstStyle/>
          <a:p>
            <a:fld id="{86CB4B4D-7CA3-9044-876B-883B54F8677D}" type="slidenum">
              <a:rPr lang="en-IN" smtClean="0"/>
              <a:t>30</a:t>
            </a:fld>
            <a:endParaRPr lang="en-IN"/>
          </a:p>
        </p:txBody>
      </p:sp>
    </p:spTree>
    <p:extLst>
      <p:ext uri="{BB962C8B-B14F-4D97-AF65-F5344CB8AC3E}">
        <p14:creationId xmlns:p14="http://schemas.microsoft.com/office/powerpoint/2010/main" val="267623620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8"/>
          <p:cNvSpPr>
            <a:spLocks noGrp="1"/>
          </p:cNvSpPr>
          <p:nvPr>
            <p:ph type="subTitle" idx="1"/>
          </p:nvPr>
        </p:nvSpPr>
        <p:spPr>
          <a:xfrm>
            <a:off x="1524000" y="2351315"/>
            <a:ext cx="9144000" cy="2906486"/>
          </a:xfrm>
        </p:spPr>
        <p:txBody>
          <a:bodyPr>
            <a:normAutofit/>
          </a:bodyPr>
          <a:lstStyle/>
          <a:p>
            <a:r>
              <a:rPr lang="en-US" sz="6600" b="1" dirty="0">
                <a:latin typeface="Calibri Light" panose="020F0302020204030204" charset="0"/>
                <a:cs typeface="Calibri Light" panose="020F0302020204030204" charset="0"/>
              </a:rPr>
              <a:t>Thank You</a:t>
            </a:r>
          </a:p>
          <a:p>
            <a:endParaRPr lang="en-US" sz="6600" b="1" dirty="0">
              <a:latin typeface="Calibri Light" panose="020F0302020204030204" charset="0"/>
              <a:cs typeface="Calibri Light" panose="020F0302020204030204" charset="0"/>
            </a:endParaRPr>
          </a:p>
          <a:p>
            <a:endParaRPr lang="en-US" sz="6600" b="1" dirty="0">
              <a:latin typeface="Calibri Light" panose="020F0302020204030204" charset="0"/>
              <a:cs typeface="Calibri Light" panose="020F0302020204030204" charset="0"/>
            </a:endParaRPr>
          </a:p>
        </p:txBody>
      </p:sp>
      <p:sp>
        <p:nvSpPr>
          <p:cNvPr id="4" name="Slide Number Placeholder 3"/>
          <p:cNvSpPr>
            <a:spLocks noGrp="1"/>
          </p:cNvSpPr>
          <p:nvPr>
            <p:ph type="sldNum" sz="quarter" idx="12"/>
          </p:nvPr>
        </p:nvSpPr>
        <p:spPr/>
        <p:txBody>
          <a:bodyPr/>
          <a:lstStyle/>
          <a:p>
            <a:fld id="{86CB4B4D-7CA3-9044-876B-883B54F8677D}" type="slidenum">
              <a:rPr lang="en-US" smtClean="0"/>
              <a:t>31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Calibri" panose="020F05020202040302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Calibri" panose="020F05020202040302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82</TotalTime>
  <Words>2486</Words>
  <Application>Microsoft Office PowerPoint</Application>
  <PresentationFormat>Widescreen</PresentationFormat>
  <Paragraphs>236</Paragraphs>
  <Slides>31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31</vt:i4>
      </vt:variant>
    </vt:vector>
  </HeadingPairs>
  <TitlesOfParts>
    <vt:vector size="37" baseType="lpstr">
      <vt:lpstr>Arial</vt:lpstr>
      <vt:lpstr>Calibri</vt:lpstr>
      <vt:lpstr>Calibri Light</vt:lpstr>
      <vt:lpstr>Noto Sans</vt:lpstr>
      <vt:lpstr>Times New Roman</vt:lpstr>
      <vt:lpstr>Office Theme</vt:lpstr>
      <vt:lpstr>Non-Invasive Blood Group Detection Using Fingerprints</vt:lpstr>
      <vt:lpstr>Index</vt:lpstr>
      <vt:lpstr>Abstract</vt:lpstr>
      <vt:lpstr>Vision </vt:lpstr>
      <vt:lpstr>Objectives</vt:lpstr>
      <vt:lpstr> Problem Statement</vt:lpstr>
      <vt:lpstr>Introduction</vt:lpstr>
      <vt:lpstr>Literature Review</vt:lpstr>
      <vt:lpstr>PowerPoint Presentation</vt:lpstr>
      <vt:lpstr>Existing System vs Proposed System</vt:lpstr>
      <vt:lpstr>Feasibility Study</vt:lpstr>
      <vt:lpstr>Project Management</vt:lpstr>
      <vt:lpstr>PowerPoint Presentation</vt:lpstr>
      <vt:lpstr>Cost Estimation(Using COCOMO Model):</vt:lpstr>
      <vt:lpstr>PowerPoint Presentation</vt:lpstr>
      <vt:lpstr>System Requirements</vt:lpstr>
      <vt:lpstr>               System Design  </vt:lpstr>
      <vt:lpstr>Use case Diagram</vt:lpstr>
      <vt:lpstr>Context Diagram</vt:lpstr>
      <vt:lpstr>Sequence Diagram</vt:lpstr>
      <vt:lpstr>Implementation of modules</vt:lpstr>
      <vt:lpstr>PowerPoint Presentation</vt:lpstr>
      <vt:lpstr>PowerPoint Presentation</vt:lpstr>
      <vt:lpstr>Results and Discussion</vt:lpstr>
      <vt:lpstr>Output:</vt:lpstr>
      <vt:lpstr>PowerPoint Presentation</vt:lpstr>
      <vt:lpstr>Conclusion</vt:lpstr>
      <vt:lpstr>Future Scope</vt:lpstr>
      <vt:lpstr>References</vt:lpstr>
      <vt:lpstr>Publication status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Non-Invasive Blood Group Detection Using Fingerprints</dc:title>
  <dc:creator>Rajeshwari B</dc:creator>
  <cp:lastModifiedBy>SUMANTH H</cp:lastModifiedBy>
  <cp:revision>51</cp:revision>
  <dcterms:created xsi:type="dcterms:W3CDTF">2025-11-17T05:11:00Z</dcterms:created>
  <dcterms:modified xsi:type="dcterms:W3CDTF">2025-12-22T01:17:59Z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13F1A5933BB3498090A687636CB09B43_12</vt:lpwstr>
  </property>
  <property fmtid="{D5CDD505-2E9C-101B-9397-08002B2CF9AE}" pid="3" name="KSOProductBuildVer">
    <vt:lpwstr>1033-12.2.0.23155</vt:lpwstr>
  </property>
</Properties>
</file>